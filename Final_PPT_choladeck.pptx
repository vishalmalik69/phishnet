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ppt/presentation.xml" ContentType="application/vnd.openxmlformats-officedocument.presentationml.presentation.main+xml"/>
  <Override PartName="/ppt/slides/slide7.xml" ContentType="application/vnd.openxmlformats-officedocument.presentationml.slide+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Layouts/slideLayout8.xml" ContentType="application/vnd.openxmlformats-officedocument.presentationml.slideLayout+xml"/>
  <Override PartName="/ppt/slideLayouts/slideLayout3.xml" ContentType="application/vnd.openxmlformats-officedocument.presentationml.slideLayout+xml"/>
  <Override PartName="/ppt/slideLayouts/slideLayout7.xml" ContentType="application/vnd.openxmlformats-officedocument.presentationml.slideLayout+xml"/>
  <Override PartName="/ppt/theme/theme1.xml" ContentType="application/vnd.openxmlformats-officedocument.theme+xml"/>
  <Override PartName="/ppt/slideLayouts/slideLayout1.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4.xml" ContentType="application/vnd.openxmlformats-officedocument.presentationml.slideLayout+xml"/>
  <Override PartName="/ppt/slideLayouts/slideLayout9.xml" ContentType="application/vnd.openxmlformats-officedocument.presentationml.slideLayout+xml"/>
  <Override PartName="/ppt/slides/slide12.xml" ContentType="application/vnd.openxmlformats-officedocument.presentationml.slide+xml"/>
  <Override PartName="/ppt/notesSlides/notesSlide2.xml" ContentType="application/vnd.openxmlformats-officedocument.presentationml.notesSlide+xml"/>
  <Override PartName="/ppt/notesMasters/notesMaster1.xml" ContentType="application/vnd.openxmlformats-officedocument.presentationml.notesMaster+xml"/>
  <Override PartName="/ppt/theme/theme2.xml" ContentType="application/vnd.openxmlformats-officedocument.theme+xml"/>
  <Override PartName="/ppt/slides/slide17.xml" ContentType="application/vnd.openxmlformats-officedocument.presentationml.slide+xml"/>
  <Override PartName="/ppt/slides/slide25.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slides/slide6.xml" ContentType="application/vnd.openxmlformats-officedocument.presentationml.slide+xml"/>
  <Override PartName="/ppt/slides/slide11.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32.xml" ContentType="application/vnd.openxmlformats-officedocument.presentationml.slide+xml"/>
  <Override PartName="/ppt/slides/slide37.xml" ContentType="application/vnd.openxmlformats-officedocument.presentationml.slide+xml"/>
  <Override PartName="/ppt/slides/slide1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handoutMasters/handoutMaster1.xml" ContentType="application/vnd.openxmlformats-officedocument.presentationml.handoutMaster+xml"/>
  <Override PartName="/ppt/theme/theme3.xml" ContentType="application/vnd.openxmlformats-officedocument.theme+xml"/>
  <Override PartName="/ppt/slides/slide5.xml" ContentType="application/vnd.openxmlformats-officedocument.presentationml.slide+xml"/>
  <Override PartName="/ppt/slides/slide10.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6.xml" ContentType="application/vnd.openxmlformats-officedocument.presentationml.slide+xml"/>
  <Override PartName="/ppt/tableStyles.xml" ContentType="application/vnd.openxmlformats-officedocument.presentationml.tableStyles+xml"/>
  <Override PartName="/ppt/slides/slide4.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7.xml" ContentType="application/vnd.openxmlformats-officedocument.presentationml.slide+xml"/>
  <Override PartName="/ppt/slides/slide35.xml" ContentType="application/vnd.openxmlformats-officedocument.presentationml.slide+xml"/>
  <Override PartName="/ppt/slides/slide9.xml" ContentType="application/vnd.openxmlformats-officedocument.presentationml.slide+xml"/>
  <Override PartName="/ppt/slides/slide18.xml" ContentType="application/vnd.openxmlformats-officedocument.presentationml.slide+xml"/>
  <Override PartName="/ppt/slides/slide30.xml" ContentType="application/vnd.openxmlformats-officedocument.presentationml.slide+xml"/>
  <Override PartName="/ppt/charts/chart1.xml" ContentType="application/vnd.openxmlformats-officedocument.drawingml.chart+xml"/>
  <Override PartName="/ppt/slides/slide3.xml" ContentType="application/vnd.openxmlformats-officedocument.presentationml.slide+xml"/>
  <Override PartName="/ppt/slides/slide8.xml" ContentType="application/vnd.openxmlformats-officedocument.presentationml.slide+xml"/>
  <Override PartName="/ppt/slides/slide13.xml" ContentType="application/vnd.openxmlformats-officedocument.presentationml.slide+xml"/>
  <Override PartName="/ppt/slides/slide21.xml" ContentType="application/vnd.openxmlformats-officedocument.presentationml.slide+xml"/>
  <Override PartName="/ppt/slides/slide26.xml" ContentType="application/vnd.openxmlformats-officedocument.presentationml.slide+xml"/>
  <Override PartName="/ppt/slides/slide29.xml" ContentType="application/vnd.openxmlformats-officedocument.presentationml.slide+xml"/>
  <Override PartName="/ppt/slides/slide34.xml" ContentType="application/vnd.openxmlformats-officedocument.presentationml.slide+xml"/>
  <Override PartName="/ppt/viewProps.xml" ContentType="application/vnd.openxmlformats-officedocument.presentationml.viewProps+xml"/>
  <Override PartName="/docProps/app.xml" ContentType="application/vnd.openxmlformats-officedocument.extended-properties+xml"/>
</Types>
</file>

<file path=_rels/.rels>&#65279;<?xml version="1.0" encoding="utf-8"?><Relationships xmlns="http://schemas.openxmlformats.org/package/2006/relationships"><Relationship Type="http://schemas.openxmlformats.org/package/2006/relationships/metadata/core-properties" Target="/docProps/core.xml" Id="rId3" /><Relationship Type="http://schemas.openxmlformats.org/package/2006/relationships/metadata/thumbnail" Target="/docProps/thumbnail.jpeg" Id="rId2" /><Relationship Type="http://schemas.openxmlformats.org/officeDocument/2006/relationships/officeDocument" Target="/ppt/presentation.xml" Id="rId1" /><Relationship Type="http://schemas.openxmlformats.org/officeDocument/2006/relationships/extended-properties" Target="/docProps/app.xml" Id="rId4"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971" r:id="rId1"/>
  </p:sldMasterIdLst>
  <p:notesMasterIdLst>
    <p:notesMasterId r:id="rId40"/>
  </p:notesMasterIdLst>
  <p:handoutMasterIdLst>
    <p:handoutMasterId r:id="rId41"/>
  </p:handoutMasterIdLst>
  <p:sldIdLst>
    <p:sldId id="433" r:id="rId3"/>
    <p:sldId id="459" r:id="rId4"/>
    <p:sldId id="460" r:id="rId5"/>
    <p:sldId id="461" r:id="rId6"/>
    <p:sldId id="462" r:id="rId7"/>
    <p:sldId id="463" r:id="rId8"/>
    <p:sldId id="464" r:id="rId9"/>
    <p:sldId id="465" r:id="rId10"/>
    <p:sldId id="473" r:id="rId11"/>
    <p:sldId id="474" r:id="rId12"/>
    <p:sldId id="498" r:id="rId13"/>
    <p:sldId id="499" r:id="rId14"/>
    <p:sldId id="500" r:id="rId15"/>
    <p:sldId id="501" r:id="rId16"/>
    <p:sldId id="502" r:id="rId17"/>
    <p:sldId id="480" r:id="rId18"/>
    <p:sldId id="481" r:id="rId19"/>
    <p:sldId id="482" r:id="rId20"/>
    <p:sldId id="483" r:id="rId21"/>
    <p:sldId id="484" r:id="rId22"/>
    <p:sldId id="485" r:id="rId23"/>
    <p:sldId id="486" r:id="rId24"/>
    <p:sldId id="487" r:id="rId25"/>
    <p:sldId id="488" r:id="rId26"/>
    <p:sldId id="489" r:id="rId27"/>
    <p:sldId id="490" r:id="rId28"/>
    <p:sldId id="491" r:id="rId29"/>
    <p:sldId id="492" r:id="rId30"/>
    <p:sldId id="493" r:id="rId31"/>
    <p:sldId id="468" r:id="rId32"/>
    <p:sldId id="496" r:id="rId33"/>
    <p:sldId id="469" r:id="rId34"/>
    <p:sldId id="470" r:id="rId35"/>
    <p:sldId id="472" r:id="rId36"/>
    <p:sldId id="478" r:id="rId37"/>
    <p:sldId id="477" r:id="rId3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33" autoAdjust="0"/>
    <p:restoredTop sz="94660"/>
  </p:normalViewPr>
  <p:slideViewPr>
    <p:cSldViewPr>
      <p:cViewPr>
        <p:scale>
          <a:sx n="60" d="100"/>
          <a:sy n="60" d="100"/>
        </p:scale>
        <p:origin x="-1512" y="-288"/>
      </p:cViewPr>
      <p:guideLst>
        <p:guide orient="horz" pos="2160"/>
        <p:guide pos="2880"/>
      </p:guideLst>
    </p:cSldViewPr>
  </p:slideViewPr>
  <p:notesTextViewPr>
    <p:cViewPr>
      <p:scale>
        <a:sx n="100" d="100"/>
        <a:sy n="100" d="100"/>
      </p:scale>
      <p:origin x="0" y="0"/>
    </p:cViewPr>
  </p:notesTextViewPr>
  <p:notesViewPr>
    <p:cSldViewPr>
      <p:cViewPr varScale="1">
        <p:scale>
          <a:sx n="45" d="100"/>
          <a:sy n="45" d="100"/>
        </p:scale>
        <p:origin x="-1434" y="-114"/>
      </p:cViewPr>
      <p:guideLst>
        <p:guide orient="horz" pos="2880"/>
        <p:guide pos="2160"/>
      </p:guideLst>
    </p:cSldViewPr>
  </p:notesViewPr>
  <p:gridSpacing cx="78028800" cy="78028800"/>
</p:viewPr>
</file>

<file path=ppt/_rels/presentation.xml.rels>&#65279;<?xml version="1.0" encoding="utf-8"?><Relationships xmlns="http://schemas.openxmlformats.org/package/2006/relationships"><Relationship Type="http://schemas.openxmlformats.org/officeDocument/2006/relationships/slide" Target="/ppt/slides/slide7.xml" Id="rId8" /><Relationship Type="http://schemas.openxmlformats.org/officeDocument/2006/relationships/slide" Target="/ppt/slides/slide12.xml" Id="rId13" /><Relationship Type="http://schemas.openxmlformats.org/officeDocument/2006/relationships/slide" Target="/ppt/slides/slide17.xml" Id="rId18" /><Relationship Type="http://schemas.openxmlformats.org/officeDocument/2006/relationships/slide" Target="/ppt/slides/slide25.xml" Id="rId26" /><Relationship Type="http://schemas.openxmlformats.org/officeDocument/2006/relationships/slide" Target="/ppt/slides/slide2.xml" Id="rId3" /><Relationship Type="http://schemas.openxmlformats.org/officeDocument/2006/relationships/slide" Target="/ppt/slides/slide20.xml" Id="rId21" /><Relationship Type="http://schemas.openxmlformats.org/officeDocument/2006/relationships/slide" Target="/ppt/slides/slide33.xml" Id="rId34" /><Relationship Type="http://schemas.openxmlformats.org/officeDocument/2006/relationships/presProps" Target="/ppt/presProps.xml" Id="rId42" /><Relationship Type="http://schemas.openxmlformats.org/officeDocument/2006/relationships/slide" Target="/ppt/slides/slide6.xml" Id="rId7" /><Relationship Type="http://schemas.openxmlformats.org/officeDocument/2006/relationships/slide" Target="/ppt/slides/slide11.xml" Id="rId12" /><Relationship Type="http://schemas.openxmlformats.org/officeDocument/2006/relationships/slide" Target="/ppt/slides/slide16.xml" Id="rId17" /><Relationship Type="http://schemas.openxmlformats.org/officeDocument/2006/relationships/slide" Target="/ppt/slides/slide24.xml" Id="rId25" /><Relationship Type="http://schemas.openxmlformats.org/officeDocument/2006/relationships/slide" Target="/ppt/slides/slide32.xml" Id="rId33" /><Relationship Type="http://schemas.openxmlformats.org/officeDocument/2006/relationships/slide" Target="/ppt/slides/slide37.xml" Id="rId38" /><Relationship Type="http://schemas.openxmlformats.org/officeDocument/2006/relationships/slide" Target="/ppt/slides/slide15.xml" Id="rId16" /><Relationship Type="http://schemas.openxmlformats.org/officeDocument/2006/relationships/slide" Target="/ppt/slides/slide19.xml" Id="rId20" /><Relationship Type="http://schemas.openxmlformats.org/officeDocument/2006/relationships/slide" Target="/ppt/slides/slide28.xml" Id="rId29" /><Relationship Type="http://schemas.openxmlformats.org/officeDocument/2006/relationships/handoutMaster" Target="/ppt/handoutMasters/handoutMaster1.xml" Id="rId41" /><Relationship Type="http://schemas.openxmlformats.org/officeDocument/2006/relationships/slideMaster" Target="/ppt/slideMasters/slideMaster1.xml" Id="rId1" /><Relationship Type="http://schemas.openxmlformats.org/officeDocument/2006/relationships/slide" Target="/ppt/slides/slide5.xml" Id="rId6" /><Relationship Type="http://schemas.openxmlformats.org/officeDocument/2006/relationships/slide" Target="/ppt/slides/slide10.xml" Id="rId11" /><Relationship Type="http://schemas.openxmlformats.org/officeDocument/2006/relationships/slide" Target="/ppt/slides/slide23.xml" Id="rId24" /><Relationship Type="http://schemas.openxmlformats.org/officeDocument/2006/relationships/slide" Target="/ppt/slides/slide31.xml" Id="rId32" /><Relationship Type="http://schemas.openxmlformats.org/officeDocument/2006/relationships/slide" Target="/ppt/slides/slide36.xml" Id="rId37" /><Relationship Type="http://schemas.openxmlformats.org/officeDocument/2006/relationships/notesMaster" Target="/ppt/notesMasters/notesMaster1.xml" Id="rId40" /><Relationship Type="http://schemas.openxmlformats.org/officeDocument/2006/relationships/tableStyles" Target="/ppt/tableStyles.xml" Id="rId45" /><Relationship Type="http://schemas.openxmlformats.org/officeDocument/2006/relationships/slide" Target="/ppt/slides/slide4.xml" Id="rId5" /><Relationship Type="http://schemas.openxmlformats.org/officeDocument/2006/relationships/slide" Target="/ppt/slides/slide14.xml" Id="rId15" /><Relationship Type="http://schemas.openxmlformats.org/officeDocument/2006/relationships/slide" Target="/ppt/slides/slide22.xml" Id="rId23" /><Relationship Type="http://schemas.openxmlformats.org/officeDocument/2006/relationships/slide" Target="/ppt/slides/slide27.xml" Id="rId28" /><Relationship Type="http://schemas.openxmlformats.org/officeDocument/2006/relationships/slide" Target="/ppt/slides/slide35.xml" Id="rId36" /><Relationship Type="http://schemas.openxmlformats.org/officeDocument/2006/relationships/slide" Target="/ppt/slides/slide9.xml" Id="rId10" /><Relationship Type="http://schemas.openxmlformats.org/officeDocument/2006/relationships/slide" Target="/ppt/slides/slide18.xml" Id="rId19" /><Relationship Type="http://schemas.openxmlformats.org/officeDocument/2006/relationships/slide" Target="/ppt/slides/slide30.xml" Id="rId31" /><Relationship Type="http://schemas.openxmlformats.org/officeDocument/2006/relationships/theme" Target="/ppt/theme/theme1.xml" Id="rId44" /><Relationship Type="http://schemas.openxmlformats.org/officeDocument/2006/relationships/slide" Target="/ppt/slides/slide3.xml" Id="rId4" /><Relationship Type="http://schemas.openxmlformats.org/officeDocument/2006/relationships/slide" Target="/ppt/slides/slide8.xml" Id="rId9" /><Relationship Type="http://schemas.openxmlformats.org/officeDocument/2006/relationships/slide" Target="/ppt/slides/slide13.xml" Id="rId14" /><Relationship Type="http://schemas.openxmlformats.org/officeDocument/2006/relationships/slide" Target="/ppt/slides/slide21.xml" Id="rId22" /><Relationship Type="http://schemas.openxmlformats.org/officeDocument/2006/relationships/slide" Target="/ppt/slides/slide26.xml" Id="rId27" /><Relationship Type="http://schemas.openxmlformats.org/officeDocument/2006/relationships/slide" Target="/ppt/slides/slide29.xml" Id="rId30" /><Relationship Type="http://schemas.openxmlformats.org/officeDocument/2006/relationships/slide" Target="/ppt/slides/slide34.xml" Id="rId35" /><Relationship Type="http://schemas.openxmlformats.org/officeDocument/2006/relationships/viewProps" Target="/ppt/viewProps.xml" Id="rId43" /></Relationships>
</file>

<file path=ppt/charts/_rels/chart1.xml.rels>&#65279;<?xml version="1.0" encoding="utf-8"?><Relationships xmlns="http://schemas.openxmlformats.org/package/2006/relationships"><Relationship Type="http://schemas.openxmlformats.org/officeDocument/2006/relationships/oleObject" Target="file:///D:\Research_Eye\Processing\Oriental\Gaurav_Tiwari_CS\Final_Work\Result.xlsx" TargetMode="External" Id="rId1" /></Relationships>
</file>

<file path=ppt/charts/chart1.xml><?xml version="1.0" encoding="utf-8"?>
<c:chartSpace xmlns:c="http://schemas.openxmlformats.org/drawingml/2006/chart" xmlns:a="http://schemas.openxmlformats.org/drawingml/2006/main" xmlns:r="http://schemas.openxmlformats.org/officeDocument/2006/relationships">
  <c:date1904 val="1"/>
  <c:lang val="en-US"/>
  <c:chart>
    <c:title>
      <c:layout/>
    </c:title>
    <c:view3D>
      <c:rAngAx val="1"/>
    </c:view3D>
    <c:plotArea>
      <c:layout/>
      <c:bar3DChart>
        <c:barDir val="col"/>
        <c:grouping val="clustered"/>
        <c:ser>
          <c:idx val="0"/>
          <c:order val="0"/>
          <c:tx>
            <c:strRef>
              <c:f>Sheet1!$B$1</c:f>
              <c:strCache>
                <c:ptCount val="1"/>
                <c:pt idx="0">
                  <c:v>Accuracy</c:v>
                </c:pt>
              </c:strCache>
            </c:strRef>
          </c:tx>
          <c:dPt>
            <c:idx val="0"/>
            <c:spPr>
              <a:solidFill>
                <a:srgbClr val="C00000"/>
              </a:solidFill>
            </c:spPr>
          </c:dPt>
          <c:dPt>
            <c:idx val="2"/>
            <c:spPr>
              <a:solidFill>
                <a:srgbClr val="7030A0"/>
              </a:solidFill>
            </c:spPr>
          </c:dPt>
          <c:dPt>
            <c:idx val="3"/>
            <c:spPr>
              <a:solidFill>
                <a:srgbClr val="00B050"/>
              </a:solidFill>
            </c:spPr>
          </c:dPt>
          <c:cat>
            <c:strRef>
              <c:f>Sheet1!$A$2:$A$5</c:f>
              <c:strCache>
                <c:ptCount val="4"/>
                <c:pt idx="0">
                  <c:v>Decision Tree (%)</c:v>
                </c:pt>
                <c:pt idx="1">
                  <c:v>K-Nearest Neighbor (%)</c:v>
                </c:pt>
                <c:pt idx="2">
                  <c:v>Random Forest  (%)</c:v>
                </c:pt>
                <c:pt idx="3">
                  <c:v>ANN (Proposed) (%)</c:v>
                </c:pt>
              </c:strCache>
            </c:strRef>
          </c:cat>
          <c:val>
            <c:numRef>
              <c:f>Sheet1!$B$2:$B$5</c:f>
              <c:numCache>
                <c:formatCode>General</c:formatCode>
                <c:ptCount val="4"/>
                <c:pt idx="0">
                  <c:v>91.51</c:v>
                </c:pt>
                <c:pt idx="1">
                  <c:v>97.69</c:v>
                </c:pt>
                <c:pt idx="2">
                  <c:v>94.440000000000026</c:v>
                </c:pt>
                <c:pt idx="3">
                  <c:v>98.04</c:v>
                </c:pt>
              </c:numCache>
            </c:numRef>
          </c:val>
        </c:ser>
        <c:shape val="cylinder"/>
        <c:axId val="110614400"/>
        <c:axId val="110615936"/>
        <c:axId val="0"/>
      </c:bar3DChart>
      <c:catAx>
        <c:axId val="110614400"/>
        <c:scaling>
          <c:orientation val="minMax"/>
        </c:scaling>
        <c:axPos val="b"/>
        <c:tickLblPos val="nextTo"/>
        <c:crossAx val="110615936"/>
        <c:crosses val="autoZero"/>
        <c:auto val="1"/>
        <c:lblAlgn val="ctr"/>
        <c:lblOffset val="100"/>
      </c:catAx>
      <c:valAx>
        <c:axId val="110615936"/>
        <c:scaling>
          <c:orientation val="minMax"/>
        </c:scaling>
        <c:axPos val="l"/>
        <c:majorGridlines/>
        <c:numFmt formatCode="General" sourceLinked="1"/>
        <c:tickLblPos val="nextTo"/>
        <c:crossAx val="110614400"/>
        <c:crosses val="autoZero"/>
        <c:crossBetween val="between"/>
      </c:valAx>
    </c:plotArea>
    <c:legend>
      <c:legendPos val="r"/>
      <c:layout/>
    </c:legend>
    <c:plotVisOnly val="1"/>
  </c:chart>
  <c:txPr>
    <a:bodyPr/>
    <a:lstStyle/>
    <a:p>
      <a:pPr>
        <a:defRPr sz="1400">
          <a:latin typeface="Times New Roman" pitchFamily="18" charset="0"/>
          <a:cs typeface="Times New Roman" pitchFamily="18" charset="0"/>
        </a:defRPr>
      </a:pPr>
      <a:endParaRPr lang="en-US"/>
    </a:p>
  </c:txPr>
  <c:externalData r:id="rId1"/>
</c:chartSpace>
</file>

<file path=ppt/handoutMasters/_rels/handoutMaster1.xml.rels>&#65279;<?xml version="1.0" encoding="utf-8"?><Relationships xmlns="http://schemas.openxmlformats.org/package/2006/relationships"><Relationship Type="http://schemas.openxmlformats.org/officeDocument/2006/relationships/theme" Target="/ppt/theme/theme3.xml" Id="rId1" /></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1F85E7C-1D8E-4D09-B7C8-37BD2FE50AAA}" type="datetimeFigureOut">
              <a:rPr lang="en-US" smtClean="0"/>
              <a:pPr/>
              <a:t>5/12/2023</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FEB7E214-4618-4E59-A924-E255E3FFC9BD}" type="slidenum">
              <a:rPr lang="en-US" smtClean="0"/>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&#65279;<?xml version="1.0" encoding="utf-8"?><Relationships xmlns="http://schemas.openxmlformats.org/package/2006/relationships"><Relationship Type="http://schemas.openxmlformats.org/officeDocument/2006/relationships/theme" Target="/ppt/theme/theme2.xml" Id="rId1"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F65D89D-EEBA-4A16-9221-34BF9D47D0AA}" type="datetimeFigureOut">
              <a:rPr lang="en-US" smtClean="0"/>
              <a:pPr/>
              <a:t>5/12/2023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C12985E-2B4F-4E26-8AD7-A554407461CC}"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xml.rels>&#65279;<?xml version="1.0" encoding="utf-8"?><Relationships xmlns="http://schemas.openxmlformats.org/package/2006/relationships"><Relationship Type="http://schemas.openxmlformats.org/officeDocument/2006/relationships/slide" Target="/ppt/slides/slide12.xml" Id="rId2" /><Relationship Type="http://schemas.openxmlformats.org/officeDocument/2006/relationships/notesMaster" Target="/ppt/notesMasters/notesMaster1.xml" Id="rId1" /></Relationship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C2EBAAE-63E1-4AF7-BA20-7CE19E5B2506}" type="slidenum">
              <a:rPr lang="en-US" smtClean="0"/>
              <a:pPr/>
              <a:t>12</a:t>
            </a:fld>
            <a:endParaRPr lang="en-US"/>
          </a:p>
        </p:txBody>
      </p:sp>
    </p:spTree>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5/12/2023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5/12/2023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5/12/2023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5/12/2023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&#65279;<?xml version="1.0" encoding="utf-8"?><Relationships xmlns="http://schemas.openxmlformats.org/package/2006/relationships"><Relationship Type="http://schemas.openxmlformats.org/officeDocument/2006/relationships/slideLayout" Target="/ppt/slideLayouts/slideLayout8.xml" Id="rId8" /><Relationship Type="http://schemas.openxmlformats.org/officeDocument/2006/relationships/slideLayout" Target="/ppt/slideLayouts/slideLayout3.xml" Id="rId3" /><Relationship Type="http://schemas.openxmlformats.org/officeDocument/2006/relationships/slideLayout" Target="/ppt/slideLayouts/slideLayout7.xml" Id="rId7" /><Relationship Type="http://schemas.openxmlformats.org/officeDocument/2006/relationships/theme" Target="/ppt/theme/theme1.xml" Id="rId12" /><Relationship Type="http://schemas.openxmlformats.org/officeDocument/2006/relationships/slideLayout" Target="/ppt/slideLayouts/slideLayout2.xml" Id="rId2" /><Relationship Type="http://schemas.openxmlformats.org/officeDocument/2006/relationships/slideLayout" Target="/ppt/slideLayouts/slideLayout1.xml" Id="rId1" /><Relationship Type="http://schemas.openxmlformats.org/officeDocument/2006/relationships/slideLayout" Target="/ppt/slideLayouts/slideLayout6.xml" Id="rId6" /><Relationship Type="http://schemas.openxmlformats.org/officeDocument/2006/relationships/slideLayout" Target="/ppt/slideLayouts/slideLayout11.xml" Id="rId11" /><Relationship Type="http://schemas.openxmlformats.org/officeDocument/2006/relationships/slideLayout" Target="/ppt/slideLayouts/slideLayout5.xml" Id="rId5" /><Relationship Type="http://schemas.openxmlformats.org/officeDocument/2006/relationships/slideLayout" Target="/ppt/slideLayouts/slideLayout10.xml" Id="rId10" /><Relationship Type="http://schemas.openxmlformats.org/officeDocument/2006/relationships/slideLayout" Target="/ppt/slideLayouts/slideLayout4.xml" Id="rId4" /><Relationship Type="http://schemas.openxmlformats.org/officeDocument/2006/relationships/slideLayout" Target="/ppt/slideLayouts/slideLayout9.xml" Id="rId9"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5/12/2023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972" r:id="rId1"/>
    <p:sldLayoutId id="2147483973" r:id="rId2"/>
    <p:sldLayoutId id="2147483974" r:id="rId3"/>
    <p:sldLayoutId id="2147483975" r:id="rId4"/>
    <p:sldLayoutId id="2147483976" r:id="rId5"/>
    <p:sldLayoutId id="2147483977" r:id="rId6"/>
    <p:sldLayoutId id="2147483978" r:id="rId7"/>
    <p:sldLayoutId id="2147483979" r:id="rId8"/>
    <p:sldLayoutId id="2147483980" r:id="rId9"/>
    <p:sldLayoutId id="2147483981" r:id="rId10"/>
    <p:sldLayoutId id="2147483982"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9.xml.rels>&#65279;<?xml version="1.0" encoding="utf-8"?><Relationships xmlns="http://schemas.openxmlformats.org/package/2006/relationships"><Relationship Type="http://schemas.openxmlformats.org/officeDocument/2006/relationships/image" Target="/ppt/media/image2.png" Id="rId2" /><Relationship Type="http://schemas.openxmlformats.org/officeDocument/2006/relationships/slideLayout" Target="/ppt/slideLayouts/slideLayout7.xml" Id="rId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Id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Id1" /></Relationships>
</file>

<file path=ppt/slides/_rels/slide12.xml.rels>&#65279;<?xml version="1.0" encoding="utf-8"?><Relationships xmlns="http://schemas.openxmlformats.org/package/2006/relationships"><Relationship Type="http://schemas.openxmlformats.org/officeDocument/2006/relationships/notesSlide" Target="/ppt/notesSlides/notesSlide2.xml" Id="rId2" /><Relationship Type="http://schemas.openxmlformats.org/officeDocument/2006/relationships/slideLayout" Target="/ppt/slideLayouts/slideLayout2.xml" Id="rId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17.xml.rels>&#65279;<?xml version="1.0" encoding="utf-8"?><Relationships xmlns="http://schemas.openxmlformats.org/package/2006/relationships"><Relationship Type="http://schemas.openxmlformats.org/officeDocument/2006/relationships/image" Target="/ppt/media/image3.png" Id="rId2" /><Relationship Type="http://schemas.openxmlformats.org/officeDocument/2006/relationships/slideLayout" Target="/ppt/slideLayouts/slideLayout2.xml" Id="rId1" /></Relationships>
</file>

<file path=ppt/slides/_rels/slide18.xml.rels>&#65279;<?xml version="1.0" encoding="utf-8"?><Relationships xmlns="http://schemas.openxmlformats.org/package/2006/relationships"><Relationship Type="http://schemas.openxmlformats.org/officeDocument/2006/relationships/image" Target="/ppt/media/image4.png" Id="rId2" /><Relationship Type="http://schemas.openxmlformats.org/officeDocument/2006/relationships/slideLayout" Target="/ppt/slideLayouts/slideLayout2.xml" Id="rId1" /></Relationships>
</file>

<file path=ppt/slides/_rels/slide19.xml.rels>&#65279;<?xml version="1.0" encoding="utf-8"?><Relationships xmlns="http://schemas.openxmlformats.org/package/2006/relationships"><Relationship Type="http://schemas.openxmlformats.org/officeDocument/2006/relationships/image" Target="/ppt/media/image5.png" Id="rId2" /><Relationship Type="http://schemas.openxmlformats.org/officeDocument/2006/relationships/slideLayout" Target="/ppt/slideLayouts/slideLayout2.xml" Id="rId1" /></Relationships>
</file>

<file path=ppt/slides/_rels/slide20.xml.rels>&#65279;<?xml version="1.0" encoding="utf-8"?><Relationships xmlns="http://schemas.openxmlformats.org/package/2006/relationships"><Relationship Type="http://schemas.openxmlformats.org/officeDocument/2006/relationships/image" Target="/ppt/media/image6.png" Id="rId2" /><Relationship Type="http://schemas.openxmlformats.org/officeDocument/2006/relationships/slideLayout" Target="/ppt/slideLayouts/slideLayout2.xml" Id="rId1" /></Relationships>
</file>

<file path=ppt/slides/_rels/slide21.xml.rels>&#65279;<?xml version="1.0" encoding="utf-8"?><Relationships xmlns="http://schemas.openxmlformats.org/package/2006/relationships"><Relationship Type="http://schemas.openxmlformats.org/officeDocument/2006/relationships/image" Target="/ppt/media/image7.png" Id="rId2" /><Relationship Type="http://schemas.openxmlformats.org/officeDocument/2006/relationships/slideLayout" Target="/ppt/slideLayouts/slideLayout2.xml" Id="rId1" /></Relationships>
</file>

<file path=ppt/slides/_rels/slide22.xml.rels>&#65279;<?xml version="1.0" encoding="utf-8"?><Relationships xmlns="http://schemas.openxmlformats.org/package/2006/relationships"><Relationship Type="http://schemas.openxmlformats.org/officeDocument/2006/relationships/image" Target="/ppt/media/image8.png" Id="rId2" /><Relationship Type="http://schemas.openxmlformats.org/officeDocument/2006/relationships/slideLayout" Target="/ppt/slideLayouts/slideLayout2.xml" Id="rId1" /></Relationships>
</file>

<file path=ppt/slides/_rels/slide23.xml.rels>&#65279;<?xml version="1.0" encoding="utf-8"?><Relationships xmlns="http://schemas.openxmlformats.org/package/2006/relationships"><Relationship Type="http://schemas.openxmlformats.org/officeDocument/2006/relationships/image" Target="/ppt/media/image9.png" Id="rId2" /><Relationship Type="http://schemas.openxmlformats.org/officeDocument/2006/relationships/slideLayout" Target="/ppt/slideLayouts/slideLayout2.xml" Id="rId1" /></Relationships>
</file>

<file path=ppt/slides/_rels/slide24.xml.rels>&#65279;<?xml version="1.0" encoding="utf-8"?><Relationships xmlns="http://schemas.openxmlformats.org/package/2006/relationships"><Relationship Type="http://schemas.openxmlformats.org/officeDocument/2006/relationships/image" Target="/ppt/media/image10.png" Id="rId2" /><Relationship Type="http://schemas.openxmlformats.org/officeDocument/2006/relationships/slideLayout" Target="/ppt/slideLayouts/slideLayout2.xml" Id="rId1" /></Relationships>
</file>

<file path=ppt/slides/_rels/slide25.xml.rels>&#65279;<?xml version="1.0" encoding="utf-8"?><Relationships xmlns="http://schemas.openxmlformats.org/package/2006/relationships"><Relationship Type="http://schemas.openxmlformats.org/officeDocument/2006/relationships/image" Target="/ppt/media/image11.png" Id="rId2" /><Relationship Type="http://schemas.openxmlformats.org/officeDocument/2006/relationships/slideLayout" Target="/ppt/slideLayouts/slideLayout2.xml" Id="rId1" /></Relationships>
</file>

<file path=ppt/slides/_rels/slide26.xml.rels>&#65279;<?xml version="1.0" encoding="utf-8"?><Relationships xmlns="http://schemas.openxmlformats.org/package/2006/relationships"><Relationship Type="http://schemas.openxmlformats.org/officeDocument/2006/relationships/image" Target="/ppt/media/image12.png" Id="rId2" /><Relationship Type="http://schemas.openxmlformats.org/officeDocument/2006/relationships/slideLayout" Target="/ppt/slideLayouts/slideLayout2.xml" Id="rId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30.xml.rels>&#65279;<?xml version="1.0" encoding="utf-8"?><Relationships xmlns="http://schemas.openxmlformats.org/package/2006/relationships"><Relationship Type="http://schemas.openxmlformats.org/officeDocument/2006/relationships/chart" Target="/ppt/charts/chart1.xml" Id="rId2" /><Relationship Type="http://schemas.openxmlformats.org/officeDocument/2006/relationships/slideLayout" Target="/ppt/slideLayouts/slideLayout7.xml" Id="rId1"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33.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34.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35.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37.xml.rels>&#65279;<?xml version="1.0" encoding="utf-8"?><Relationships xmlns="http://schemas.openxmlformats.org/package/2006/relationships"><Relationship Type="http://schemas.openxmlformats.org/officeDocument/2006/relationships/slideLayout" Target="/ppt/slideLayouts/slideLayout2.xml" Id="rId1" /></Relationships>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39762"/>
          </a:xfrm>
        </p:spPr>
        <p:txBody>
          <a:bodyPr>
            <a:noAutofit/>
          </a:bodyPr>
          <a:lstStyle/>
          <a:p>
            <a:r>
              <a:rPr lang="en-IN" sz="3600" dirty="0" smtClean="0"/>
              <a:t>OUTLINE</a:t>
            </a:r>
            <a:endParaRPr lang="en-US" sz="3600" dirty="0"/>
          </a:p>
        </p:txBody>
      </p:sp>
      <p:sp>
        <p:nvSpPr>
          <p:cNvPr id="3" name="Content Placeholder 2"/>
          <p:cNvSpPr>
            <a:spLocks noGrp="1"/>
          </p:cNvSpPr>
          <p:nvPr>
            <p:ph idx="1"/>
          </p:nvPr>
        </p:nvSpPr>
        <p:spPr>
          <a:xfrm>
            <a:off x="457200" y="990600"/>
            <a:ext cx="8229600" cy="5029200"/>
          </a:xfrm>
        </p:spPr>
        <p:txBody>
          <a:bodyPr>
            <a:normAutofit fontScale="92500" lnSpcReduction="10000"/>
          </a:bodyPr>
          <a:lstStyle/>
          <a:p>
            <a:pPr marL="457200" indent="-457200">
              <a:lnSpc>
                <a:spcPct val="150000"/>
              </a:lnSpc>
              <a:buFont typeface="Wingdings" pitchFamily="2" charset="2"/>
              <a:buChar char="§"/>
            </a:pPr>
            <a:r>
              <a:rPr lang="en-IN" sz="2400" dirty="0" smtClean="0">
                <a:latin typeface="Times New Roman" pitchFamily="18" charset="0"/>
                <a:cs typeface="Times New Roman" pitchFamily="18" charset="0"/>
              </a:rPr>
              <a:t>Introduction</a:t>
            </a:r>
          </a:p>
          <a:p>
            <a:pPr marL="457200" indent="-457200">
              <a:lnSpc>
                <a:spcPct val="150000"/>
              </a:lnSpc>
              <a:buFont typeface="Wingdings" pitchFamily="2" charset="2"/>
              <a:buChar char="§"/>
            </a:pPr>
            <a:r>
              <a:rPr lang="en-IN" sz="2400" dirty="0" smtClean="0">
                <a:latin typeface="Times New Roman" pitchFamily="18" charset="0"/>
                <a:cs typeface="Times New Roman" pitchFamily="18" charset="0"/>
              </a:rPr>
              <a:t>Literature Survey</a:t>
            </a:r>
          </a:p>
          <a:p>
            <a:pPr marL="457200" indent="-457200">
              <a:lnSpc>
                <a:spcPct val="150000"/>
              </a:lnSpc>
              <a:buFont typeface="Wingdings" pitchFamily="2" charset="2"/>
              <a:buChar char="§"/>
            </a:pPr>
            <a:r>
              <a:rPr lang="en-IN" sz="2400" dirty="0" smtClean="0">
                <a:latin typeface="Times New Roman" pitchFamily="18" charset="0"/>
                <a:cs typeface="Times New Roman" pitchFamily="18" charset="0"/>
              </a:rPr>
              <a:t>Problem Identification</a:t>
            </a:r>
          </a:p>
          <a:p>
            <a:pPr marL="457200" indent="-457200">
              <a:lnSpc>
                <a:spcPct val="150000"/>
              </a:lnSpc>
              <a:buFont typeface="Wingdings" pitchFamily="2" charset="2"/>
              <a:buChar char="§"/>
            </a:pPr>
            <a:r>
              <a:rPr lang="en-IN" sz="2400" dirty="0" smtClean="0">
                <a:latin typeface="Times New Roman" pitchFamily="18" charset="0"/>
                <a:cs typeface="Times New Roman" pitchFamily="18" charset="0"/>
              </a:rPr>
              <a:t>Objective</a:t>
            </a:r>
          </a:p>
          <a:p>
            <a:pPr marL="457200" indent="-457200">
              <a:lnSpc>
                <a:spcPct val="150000"/>
              </a:lnSpc>
              <a:buFont typeface="Wingdings" pitchFamily="2" charset="2"/>
              <a:buChar char="§"/>
            </a:pPr>
            <a:r>
              <a:rPr lang="en-IN" sz="2400" dirty="0" smtClean="0">
                <a:latin typeface="Times New Roman" pitchFamily="18" charset="0"/>
                <a:cs typeface="Times New Roman" pitchFamily="18" charset="0"/>
              </a:rPr>
              <a:t>Methodology</a:t>
            </a:r>
          </a:p>
          <a:p>
            <a:pPr marL="457200" indent="-457200">
              <a:lnSpc>
                <a:spcPct val="150000"/>
              </a:lnSpc>
              <a:buFont typeface="Wingdings" pitchFamily="2" charset="2"/>
              <a:buChar char="§"/>
            </a:pPr>
            <a:r>
              <a:rPr lang="en-IN" sz="2400" dirty="0" smtClean="0">
                <a:latin typeface="Times New Roman" pitchFamily="18" charset="0"/>
                <a:cs typeface="Times New Roman" pitchFamily="18" charset="0"/>
              </a:rPr>
              <a:t>Simulation Results</a:t>
            </a:r>
          </a:p>
          <a:p>
            <a:pPr marL="457200" indent="-457200">
              <a:lnSpc>
                <a:spcPct val="150000"/>
              </a:lnSpc>
              <a:buFont typeface="Wingdings" pitchFamily="2" charset="2"/>
              <a:buChar char="§"/>
            </a:pPr>
            <a:r>
              <a:rPr lang="en-IN" sz="2400" dirty="0" smtClean="0">
                <a:latin typeface="Times New Roman" pitchFamily="18" charset="0"/>
                <a:cs typeface="Times New Roman" pitchFamily="18" charset="0"/>
              </a:rPr>
              <a:t>Conclusion &amp; Future Scope</a:t>
            </a:r>
          </a:p>
          <a:p>
            <a:pPr marL="457200" indent="-457200">
              <a:lnSpc>
                <a:spcPct val="150000"/>
              </a:lnSpc>
              <a:buFont typeface="Wingdings" pitchFamily="2" charset="2"/>
              <a:buChar char="§"/>
            </a:pPr>
            <a:r>
              <a:rPr lang="en-IN" sz="2400" dirty="0" smtClean="0">
                <a:latin typeface="Times New Roman" pitchFamily="18" charset="0"/>
                <a:cs typeface="Times New Roman" pitchFamily="18" charset="0"/>
              </a:rPr>
              <a:t>References</a:t>
            </a:r>
          </a:p>
          <a:p>
            <a:pPr marL="457200" indent="-457200">
              <a:lnSpc>
                <a:spcPct val="150000"/>
              </a:lnSpc>
              <a:buFont typeface="Wingdings" pitchFamily="2" charset="2"/>
              <a:buChar char="§"/>
            </a:pPr>
            <a:r>
              <a:rPr lang="en-IN" sz="2400" dirty="0" smtClean="0">
                <a:latin typeface="Times New Roman" pitchFamily="18" charset="0"/>
                <a:cs typeface="Times New Roman" pitchFamily="18" charset="0"/>
              </a:rPr>
              <a:t>List of Publication</a:t>
            </a:r>
            <a:endParaRPr 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8229600" cy="487362"/>
          </a:xfrm>
        </p:spPr>
        <p:txBody>
          <a:bodyPr>
            <a:noAutofit/>
          </a:bodyPr>
          <a:lstStyle/>
          <a:p>
            <a:r>
              <a:rPr lang="en-US" sz="3200" dirty="0" smtClean="0">
                <a:latin typeface="Times New Roman" pitchFamily="18" charset="0"/>
                <a:cs typeface="Times New Roman" pitchFamily="18" charset="0"/>
              </a:rPr>
              <a:t>INTRODUCTION</a:t>
            </a:r>
            <a:endParaRPr lang="en-US" sz="3200" dirty="0">
              <a:latin typeface="Times New Roman" pitchFamily="18" charset="0"/>
              <a:cs typeface="Times New Roman" pitchFamily="18" charset="0"/>
            </a:endParaRPr>
          </a:p>
        </p:txBody>
      </p:sp>
      <p:sp>
        <p:nvSpPr>
          <p:cNvPr id="3" name="Content Placeholder 2"/>
          <p:cNvSpPr>
            <a:spLocks noGrp="1"/>
          </p:cNvSpPr>
          <p:nvPr>
            <p:ph idx="1"/>
          </p:nvPr>
        </p:nvSpPr>
        <p:spPr>
          <a:xfrm>
            <a:off x="381000" y="1066800"/>
            <a:ext cx="8534400" cy="4876800"/>
          </a:xfrm>
        </p:spPr>
        <p:txBody>
          <a:bodyPr>
            <a:normAutofit fontScale="92500" lnSpcReduction="20000"/>
          </a:bodyPr>
          <a:lstStyle/>
          <a:p>
            <a:pPr algn="just">
              <a:lnSpc>
                <a:spcPct val="170000"/>
              </a:lnSpc>
              <a:buFont typeface="Wingdings" pitchFamily="2" charset="2"/>
              <a:buChar char="Ø"/>
              <a:defRPr/>
            </a:pPr>
            <a:r>
              <a:rPr lang="en-US" sz="2400" dirty="0" smtClean="0">
                <a:latin typeface="Times New Roman" pitchFamily="18" charset="0"/>
                <a:cs typeface="Times New Roman" pitchFamily="18" charset="0"/>
              </a:rPr>
              <a:t>Phishing is known as one of the oldest forms of cyber attacks, which started way back in the 1990s, and it remains to be one of the most common and malicious attacks.</a:t>
            </a:r>
          </a:p>
          <a:p>
            <a:pPr algn="just">
              <a:lnSpc>
                <a:spcPct val="170000"/>
              </a:lnSpc>
              <a:buFont typeface="Wingdings" pitchFamily="2" charset="2"/>
              <a:buChar char="Ø"/>
              <a:defRPr/>
            </a:pPr>
            <a:r>
              <a:rPr lang="en-US" sz="2400" dirty="0" smtClean="0">
                <a:latin typeface="Times New Roman" pitchFamily="18" charset="0"/>
                <a:cs typeface="Times New Roman" pitchFamily="18" charset="0"/>
              </a:rPr>
              <a:t>Phishing websites are fraudulent websites that are designed to trick users into revealing sensitive information such as login credentials, credit card details, or personal information.</a:t>
            </a:r>
          </a:p>
          <a:p>
            <a:pPr algn="just">
              <a:lnSpc>
                <a:spcPct val="170000"/>
              </a:lnSpc>
              <a:buFont typeface="Wingdings" pitchFamily="2" charset="2"/>
              <a:buChar char="Ø"/>
              <a:defRPr/>
            </a:pPr>
            <a:r>
              <a:rPr lang="en-US" sz="2400" dirty="0" smtClean="0">
                <a:latin typeface="Times New Roman" pitchFamily="18" charset="0"/>
                <a:cs typeface="Times New Roman" pitchFamily="18" charset="0"/>
              </a:rPr>
              <a:t>Predicting whether a website is a phishing website or not is an important task in </a:t>
            </a:r>
            <a:r>
              <a:rPr lang="en-US" sz="2400" dirty="0" err="1" smtClean="0">
                <a:latin typeface="Times New Roman" pitchFamily="18" charset="0"/>
                <a:cs typeface="Times New Roman" pitchFamily="18" charset="0"/>
              </a:rPr>
              <a:t>cybersecurity</a:t>
            </a:r>
            <a:r>
              <a:rPr lang="en-US" sz="2400" dirty="0" smtClean="0">
                <a:latin typeface="Times New Roman" pitchFamily="18" charset="0"/>
                <a:cs typeface="Times New Roman" pitchFamily="18" charset="0"/>
              </a:rPr>
              <a:t>, as it can help prevent users from falling victim to phishing attacks.</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8229600" cy="715962"/>
          </a:xfrm>
        </p:spPr>
        <p:txBody>
          <a:bodyPr>
            <a:normAutofit/>
          </a:bodyPr>
          <a:lstStyle/>
          <a:p>
            <a:r>
              <a:rPr lang="en-US" sz="3600" dirty="0" smtClean="0"/>
              <a:t>Cont…</a:t>
            </a:r>
            <a:endParaRPr lang="en-US" sz="3600" dirty="0"/>
          </a:p>
        </p:txBody>
      </p:sp>
      <p:sp>
        <p:nvSpPr>
          <p:cNvPr id="3" name="Content Placeholder 2"/>
          <p:cNvSpPr>
            <a:spLocks noGrp="1"/>
          </p:cNvSpPr>
          <p:nvPr>
            <p:ph idx="1"/>
          </p:nvPr>
        </p:nvSpPr>
        <p:spPr>
          <a:xfrm>
            <a:off x="228600" y="914400"/>
            <a:ext cx="8610600" cy="5410200"/>
          </a:xfrm>
        </p:spPr>
        <p:txBody>
          <a:bodyPr>
            <a:normAutofit/>
          </a:bodyPr>
          <a:lstStyle/>
          <a:p>
            <a:pPr marL="333375" indent="-333375" algn="just">
              <a:lnSpc>
                <a:spcPct val="160000"/>
              </a:lnSpc>
              <a:buFont typeface="Wingdings" pitchFamily="2" charset="2"/>
              <a:buChar char="Ø"/>
              <a:tabLst>
                <a:tab pos="333375" algn="l"/>
                <a:tab pos="790575" algn="l"/>
                <a:tab pos="1247775" algn="l"/>
                <a:tab pos="1704975" algn="l"/>
                <a:tab pos="2162175" algn="l"/>
                <a:tab pos="2619375" algn="l"/>
                <a:tab pos="3076575" algn="l"/>
                <a:tab pos="3533775" algn="l"/>
                <a:tab pos="3990975" algn="l"/>
                <a:tab pos="4448175" algn="l"/>
                <a:tab pos="4905375" algn="l"/>
                <a:tab pos="5362575" algn="l"/>
                <a:tab pos="5819775" algn="l"/>
                <a:tab pos="6276975" algn="l"/>
                <a:tab pos="6734175" algn="l"/>
                <a:tab pos="7191375" algn="l"/>
                <a:tab pos="7648575" algn="l"/>
                <a:tab pos="8105775" algn="l"/>
                <a:tab pos="8562975" algn="l"/>
                <a:tab pos="9020175" algn="l"/>
                <a:tab pos="9477375" algn="l"/>
              </a:tabLst>
            </a:pPr>
            <a:r>
              <a:rPr lang="en-US" sz="2400" dirty="0" smtClean="0">
                <a:solidFill>
                  <a:srgbClr val="000000"/>
                </a:solidFill>
                <a:latin typeface="Times New Roman" pitchFamily="18" charset="0"/>
                <a:cs typeface="Times New Roman" pitchFamily="18" charset="0"/>
              </a:rPr>
              <a:t>This research presents artificial neural network deep learning algorithm for classification. </a:t>
            </a:r>
          </a:p>
          <a:p>
            <a:pPr marL="333375" indent="-333375" algn="just">
              <a:lnSpc>
                <a:spcPct val="160000"/>
              </a:lnSpc>
              <a:buFont typeface="Wingdings" pitchFamily="2" charset="2"/>
              <a:buChar char="Ø"/>
              <a:tabLst>
                <a:tab pos="333375" algn="l"/>
                <a:tab pos="790575" algn="l"/>
                <a:tab pos="1247775" algn="l"/>
                <a:tab pos="1704975" algn="l"/>
                <a:tab pos="2162175" algn="l"/>
                <a:tab pos="2619375" algn="l"/>
                <a:tab pos="3076575" algn="l"/>
                <a:tab pos="3533775" algn="l"/>
                <a:tab pos="3990975" algn="l"/>
                <a:tab pos="4448175" algn="l"/>
                <a:tab pos="4905375" algn="l"/>
                <a:tab pos="5362575" algn="l"/>
                <a:tab pos="5819775" algn="l"/>
                <a:tab pos="6276975" algn="l"/>
                <a:tab pos="6734175" algn="l"/>
                <a:tab pos="7191375" algn="l"/>
                <a:tab pos="7648575" algn="l"/>
                <a:tab pos="8105775" algn="l"/>
                <a:tab pos="8562975" algn="l"/>
                <a:tab pos="9020175" algn="l"/>
                <a:tab pos="9477375" algn="l"/>
              </a:tabLst>
            </a:pPr>
            <a:r>
              <a:rPr lang="en-US" sz="2400" dirty="0" smtClean="0">
                <a:solidFill>
                  <a:srgbClr val="000000"/>
                </a:solidFill>
                <a:latin typeface="Times New Roman" pitchFamily="18" charset="0"/>
                <a:cs typeface="Times New Roman" pitchFamily="18" charset="0"/>
              </a:rPr>
              <a:t>Artificial neural networks (ANNs) is a powerful deep learning technique for phishing website prediction.</a:t>
            </a:r>
          </a:p>
          <a:p>
            <a:pPr marL="333375" indent="-333375" algn="just">
              <a:lnSpc>
                <a:spcPct val="160000"/>
              </a:lnSpc>
              <a:buFont typeface="Wingdings" pitchFamily="2" charset="2"/>
              <a:buChar char="Ø"/>
              <a:tabLst>
                <a:tab pos="333375" algn="l"/>
                <a:tab pos="790575" algn="l"/>
                <a:tab pos="1247775" algn="l"/>
                <a:tab pos="1704975" algn="l"/>
                <a:tab pos="2162175" algn="l"/>
                <a:tab pos="2619375" algn="l"/>
                <a:tab pos="3076575" algn="l"/>
                <a:tab pos="3533775" algn="l"/>
                <a:tab pos="3990975" algn="l"/>
                <a:tab pos="4448175" algn="l"/>
                <a:tab pos="4905375" algn="l"/>
                <a:tab pos="5362575" algn="l"/>
                <a:tab pos="5819775" algn="l"/>
                <a:tab pos="6276975" algn="l"/>
                <a:tab pos="6734175" algn="l"/>
                <a:tab pos="7191375" algn="l"/>
                <a:tab pos="7648575" algn="l"/>
                <a:tab pos="8105775" algn="l"/>
                <a:tab pos="8562975" algn="l"/>
                <a:tab pos="9020175" algn="l"/>
                <a:tab pos="9477375" algn="l"/>
              </a:tabLst>
            </a:pPr>
            <a:r>
              <a:rPr lang="en-US" sz="2400" dirty="0" smtClean="0">
                <a:solidFill>
                  <a:srgbClr val="000000"/>
                </a:solidFill>
                <a:latin typeface="Times New Roman" pitchFamily="18" charset="0"/>
                <a:cs typeface="Times New Roman" pitchFamily="18" charset="0"/>
              </a:rPr>
              <a:t>ANNs can learn to recognize complex patterns in website features and can generalize their predictions to new, unseen data.</a:t>
            </a:r>
          </a:p>
          <a:p>
            <a:pPr marL="333375" indent="-333375" algn="just">
              <a:lnSpc>
                <a:spcPct val="160000"/>
              </a:lnSpc>
              <a:buFont typeface="Wingdings" pitchFamily="2" charset="2"/>
              <a:buChar char="Ø"/>
              <a:tabLst>
                <a:tab pos="333375" algn="l"/>
                <a:tab pos="790575" algn="l"/>
                <a:tab pos="1247775" algn="l"/>
                <a:tab pos="1704975" algn="l"/>
                <a:tab pos="2162175" algn="l"/>
                <a:tab pos="2619375" algn="l"/>
                <a:tab pos="3076575" algn="l"/>
                <a:tab pos="3533775" algn="l"/>
                <a:tab pos="3990975" algn="l"/>
                <a:tab pos="4448175" algn="l"/>
                <a:tab pos="4905375" algn="l"/>
                <a:tab pos="5362575" algn="l"/>
                <a:tab pos="5819775" algn="l"/>
                <a:tab pos="6276975" algn="l"/>
                <a:tab pos="6734175" algn="l"/>
                <a:tab pos="7191375" algn="l"/>
                <a:tab pos="7648575" algn="l"/>
                <a:tab pos="8105775" algn="l"/>
                <a:tab pos="8562975" algn="l"/>
                <a:tab pos="9020175" algn="l"/>
                <a:tab pos="9477375" algn="l"/>
              </a:tabLst>
            </a:pPr>
            <a:r>
              <a:rPr lang="en-US" sz="2400" dirty="0" smtClean="0">
                <a:solidFill>
                  <a:srgbClr val="000000"/>
                </a:solidFill>
                <a:latin typeface="Times New Roman" pitchFamily="18" charset="0"/>
                <a:cs typeface="Times New Roman" pitchFamily="18" charset="0"/>
              </a:rPr>
              <a:t>The dataset is taken from </a:t>
            </a:r>
            <a:r>
              <a:rPr lang="en-US" sz="2400" dirty="0" err="1" smtClean="0">
                <a:solidFill>
                  <a:srgbClr val="000000"/>
                </a:solidFill>
                <a:latin typeface="Times New Roman" pitchFamily="18" charset="0"/>
                <a:cs typeface="Times New Roman" pitchFamily="18" charset="0"/>
              </a:rPr>
              <a:t>kaggle</a:t>
            </a:r>
            <a:r>
              <a:rPr lang="en-US" sz="2400" dirty="0" smtClean="0">
                <a:solidFill>
                  <a:srgbClr val="000000"/>
                </a:solidFill>
                <a:latin typeface="Times New Roman" pitchFamily="18" charset="0"/>
                <a:cs typeface="Times New Roman" pitchFamily="18" charset="0"/>
              </a:rPr>
              <a:t> machine learning repository. </a:t>
            </a:r>
          </a:p>
          <a:p>
            <a:pPr marL="333375" indent="-333375" algn="just">
              <a:lnSpc>
                <a:spcPct val="160000"/>
              </a:lnSpc>
              <a:buNone/>
              <a:tabLst>
                <a:tab pos="333375" algn="l"/>
                <a:tab pos="790575" algn="l"/>
                <a:tab pos="1247775" algn="l"/>
                <a:tab pos="1704975" algn="l"/>
                <a:tab pos="2162175" algn="l"/>
                <a:tab pos="2619375" algn="l"/>
                <a:tab pos="3076575" algn="l"/>
                <a:tab pos="3533775" algn="l"/>
                <a:tab pos="3990975" algn="l"/>
                <a:tab pos="4448175" algn="l"/>
                <a:tab pos="4905375" algn="l"/>
                <a:tab pos="5362575" algn="l"/>
                <a:tab pos="5819775" algn="l"/>
                <a:tab pos="6276975" algn="l"/>
                <a:tab pos="6734175" algn="l"/>
                <a:tab pos="7191375" algn="l"/>
                <a:tab pos="7648575" algn="l"/>
                <a:tab pos="8105775" algn="l"/>
                <a:tab pos="8562975" algn="l"/>
                <a:tab pos="9020175" algn="l"/>
                <a:tab pos="9477375" algn="l"/>
              </a:tabLst>
            </a:pPr>
            <a:endParaRPr lang="en-US" sz="2400" dirty="0" smtClean="0">
              <a:solidFill>
                <a:srgbClr val="000000"/>
              </a:solidFill>
              <a:latin typeface="Times New Roman" pitchFamily="18" charset="0"/>
              <a:cs typeface="Times New Roman" pitchFamily="18" charset="0"/>
            </a:endParaRPr>
          </a:p>
          <a:p>
            <a:pPr>
              <a:lnSpc>
                <a:spcPct val="160000"/>
              </a:lnSpc>
            </a:pPr>
            <a:endParaRPr lang="en-US" dirty="0">
              <a:latin typeface="Times New Roman" pitchFamily="18" charset="0"/>
              <a:cs typeface="Times New Roman" pitchFamily="18" charset="0"/>
            </a:endParaRPr>
          </a:p>
        </p:txBody>
      </p:sp>
      <p:sp>
        <p:nvSpPr>
          <p:cNvPr id="4" name="Title 2"/>
          <p:cNvSpPr txBox="1">
            <a:spLocks/>
          </p:cNvSpPr>
          <p:nvPr/>
        </p:nvSpPr>
        <p:spPr>
          <a:xfrm>
            <a:off x="228600" y="3733800"/>
            <a:ext cx="8915400" cy="1981200"/>
          </a:xfrm>
          <a:prstGeom prst="rect">
            <a:avLst/>
          </a:prstGeom>
        </p:spPr>
        <p:txBody>
          <a:bodyPr vert="horz" lIns="91440" tIns="45720" rIns="91440" bIns="45720" rtlCol="0" anchor="ctr">
            <a:normAutofit fontScale="90000" lnSpcReduction="10000"/>
          </a:bodyPr>
          <a:lstStyle/>
          <a:p>
            <a:pPr marL="0" marR="0" lvl="0" indent="0" algn="l" defTabSz="914400" rtl="0" eaLnBrk="1" fontAlgn="auto" latinLnBrk="0" hangingPunct="1">
              <a:lnSpc>
                <a:spcPct val="150000"/>
              </a:lnSpc>
              <a:spcBef>
                <a:spcPct val="0"/>
              </a:spcBef>
              <a:spcAft>
                <a:spcPts val="0"/>
              </a:spcAft>
              <a:buClrTx/>
              <a:buSzTx/>
              <a:buFontTx/>
              <a:buNone/>
              <a:tabLst/>
              <a:defRPr/>
            </a:pPr>
            <a:r>
              <a:rPr kumimoji="0" lang="en-US" sz="2400" b="0" i="0" u="none" strike="noStrike" kern="1200" cap="none" spc="0" normalizeH="0" baseline="0" noProof="0" dirty="0" smtClean="0">
                <a:ln>
                  <a:noFill/>
                </a:ln>
                <a:solidFill>
                  <a:schemeClr val="tx1"/>
                </a:solidFill>
                <a:effectLst/>
                <a:uLnTx/>
                <a:uFillTx/>
                <a:latin typeface="Times New Roman" pitchFamily="18" charset="0"/>
                <a:ea typeface="+mj-ea"/>
                <a:cs typeface="Times New Roman" pitchFamily="18" charset="0"/>
              </a:rPr>
              <a:t/>
            </a:r>
            <a:br>
              <a:rPr kumimoji="0" lang="en-US" sz="2400" b="0" i="0" u="none" strike="noStrike" kern="1200" cap="none" spc="0" normalizeH="0" baseline="0" noProof="0" dirty="0" smtClean="0">
                <a:ln>
                  <a:noFill/>
                </a:ln>
                <a:solidFill>
                  <a:schemeClr val="tx1"/>
                </a:solidFill>
                <a:effectLst/>
                <a:uLnTx/>
                <a:uFillTx/>
                <a:latin typeface="Times New Roman" pitchFamily="18" charset="0"/>
                <a:ea typeface="+mj-ea"/>
                <a:cs typeface="Times New Roman" pitchFamily="18" charset="0"/>
              </a:rPr>
            </a:br>
            <a:r>
              <a:rPr kumimoji="0" lang="en-US" sz="2400" b="0" i="0" u="none" strike="noStrike" kern="1200" cap="none" spc="0" normalizeH="0" baseline="0" noProof="0" dirty="0" smtClean="0">
                <a:ln>
                  <a:noFill/>
                </a:ln>
                <a:solidFill>
                  <a:schemeClr val="tx1"/>
                </a:solidFill>
                <a:effectLst/>
                <a:uLnTx/>
                <a:uFillTx/>
                <a:latin typeface="Times New Roman" pitchFamily="18" charset="0"/>
                <a:ea typeface="+mj-ea"/>
                <a:cs typeface="Times New Roman" pitchFamily="18" charset="0"/>
              </a:rPr>
              <a:t/>
            </a:r>
            <a:br>
              <a:rPr kumimoji="0" lang="en-US" sz="2400" b="0" i="0" u="none" strike="noStrike" kern="1200" cap="none" spc="0" normalizeH="0" baseline="0" noProof="0" dirty="0" smtClean="0">
                <a:ln>
                  <a:noFill/>
                </a:ln>
                <a:solidFill>
                  <a:schemeClr val="tx1"/>
                </a:solidFill>
                <a:effectLst/>
                <a:uLnTx/>
                <a:uFillTx/>
                <a:latin typeface="Times New Roman" pitchFamily="18" charset="0"/>
                <a:ea typeface="+mj-ea"/>
                <a:cs typeface="Times New Roman" pitchFamily="18" charset="0"/>
              </a:rPr>
            </a:br>
            <a:r>
              <a:rPr kumimoji="0" lang="en-US" sz="2400" b="0" i="0" u="none" strike="noStrike" kern="1200" cap="none" spc="0" normalizeH="0" baseline="0" noProof="0" dirty="0" smtClean="0">
                <a:ln>
                  <a:noFill/>
                </a:ln>
                <a:solidFill>
                  <a:schemeClr val="tx1"/>
                </a:solidFill>
                <a:effectLst/>
                <a:uLnTx/>
                <a:uFillTx/>
                <a:latin typeface="Times New Roman" pitchFamily="18" charset="0"/>
                <a:ea typeface="+mj-ea"/>
                <a:cs typeface="Times New Roman" pitchFamily="18" charset="0"/>
              </a:rPr>
              <a:t/>
            </a:r>
            <a:br>
              <a:rPr kumimoji="0" lang="en-US" sz="2400" b="0" i="0" u="none" strike="noStrike" kern="1200" cap="none" spc="0" normalizeH="0" baseline="0" noProof="0" dirty="0" smtClean="0">
                <a:ln>
                  <a:noFill/>
                </a:ln>
                <a:solidFill>
                  <a:schemeClr val="tx1"/>
                </a:solidFill>
                <a:effectLst/>
                <a:uLnTx/>
                <a:uFillTx/>
                <a:latin typeface="Times New Roman" pitchFamily="18" charset="0"/>
                <a:ea typeface="+mj-ea"/>
                <a:cs typeface="Times New Roman" pitchFamily="18" charset="0"/>
              </a:rPr>
            </a:br>
            <a:endParaRPr kumimoji="0" lang="en-US" sz="2400" b="0" i="0" u="none" strike="noStrike" kern="1200" cap="none" spc="0" normalizeH="0" baseline="0" noProof="0" dirty="0" smtClean="0">
              <a:ln>
                <a:noFill/>
              </a:ln>
              <a:solidFill>
                <a:schemeClr val="tx1"/>
              </a:solidFill>
              <a:effectLst/>
              <a:uLnTx/>
              <a:uFillTx/>
              <a:latin typeface="Times New Roman" pitchFamily="18" charset="0"/>
              <a:ea typeface="+mj-ea"/>
              <a:cs typeface="Times New Roman"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8229600" cy="762000"/>
          </a:xfrm>
        </p:spPr>
        <p:txBody>
          <a:bodyPr>
            <a:normAutofit/>
          </a:bodyPr>
          <a:lstStyle/>
          <a:p>
            <a:r>
              <a:rPr lang="en-IN" sz="3200" dirty="0" smtClean="0">
                <a:latin typeface="Times New Roman" pitchFamily="18" charset="0"/>
                <a:cs typeface="Times New Roman" pitchFamily="18" charset="0"/>
              </a:rPr>
              <a:t>LITERATURE SURVEY</a:t>
            </a:r>
            <a:endParaRPr lang="en-IN" sz="3200" dirty="0">
              <a:latin typeface="Times New Roman" pitchFamily="18" charset="0"/>
              <a:cs typeface="Times New Roman" pitchFamily="18" charset="0"/>
            </a:endParaRPr>
          </a:p>
        </p:txBody>
      </p:sp>
      <p:graphicFrame>
        <p:nvGraphicFramePr>
          <p:cNvPr id="4" name="Content Placeholder 3"/>
          <p:cNvGraphicFramePr>
            <a:graphicFrameLocks noGrp="1"/>
          </p:cNvGraphicFramePr>
          <p:nvPr>
            <p:ph idx="1"/>
          </p:nvPr>
        </p:nvGraphicFramePr>
        <p:xfrm>
          <a:off x="376807" y="1219199"/>
          <a:ext cx="8462393" cy="5222128"/>
        </p:xfrm>
        <a:graphic>
          <a:graphicData uri="http://schemas.openxmlformats.org/drawingml/2006/table">
            <a:tbl>
              <a:tblPr firstRow="1" bandRow="1">
                <a:tableStyleId>{5940675A-B579-460E-94D1-54222C63F5DA}</a:tableStyleId>
              </a:tblPr>
              <a:tblGrid>
                <a:gridCol w="619171"/>
                <a:gridCol w="1061422"/>
                <a:gridCol w="1524000"/>
                <a:gridCol w="2819400"/>
                <a:gridCol w="2438400"/>
              </a:tblGrid>
              <a:tr h="811585">
                <a:tc>
                  <a:txBody>
                    <a:bodyPr/>
                    <a:lstStyle/>
                    <a:p>
                      <a:pPr algn="ctr"/>
                      <a:r>
                        <a:rPr lang="en-IN" sz="2000" kern="1200" dirty="0" smtClean="0">
                          <a:latin typeface="Times New Roman" pitchFamily="18" charset="0"/>
                          <a:cs typeface="Times New Roman" pitchFamily="18" charset="0"/>
                        </a:rPr>
                        <a:t>Sr. no</a:t>
                      </a:r>
                      <a:endParaRPr lang="en-IN" sz="2000" kern="1200" dirty="0">
                        <a:solidFill>
                          <a:schemeClr val="dk1"/>
                        </a:solidFill>
                        <a:latin typeface="Times New Roman" pitchFamily="18" charset="0"/>
                        <a:ea typeface="Times New Roman"/>
                        <a:cs typeface="Times New Roman" pitchFamily="18" charset="0"/>
                      </a:endParaRPr>
                    </a:p>
                  </a:txBody>
                  <a:tcPr/>
                </a:tc>
                <a:tc>
                  <a:txBody>
                    <a:bodyPr/>
                    <a:lstStyle/>
                    <a:p>
                      <a:pPr algn="ctr"/>
                      <a:r>
                        <a:rPr lang="en-IN" sz="2000" kern="1200" dirty="0" smtClean="0">
                          <a:latin typeface="Times New Roman" pitchFamily="18" charset="0"/>
                          <a:cs typeface="Times New Roman" pitchFamily="18" charset="0"/>
                        </a:rPr>
                        <a:t>Author Name</a:t>
                      </a:r>
                      <a:endParaRPr lang="en-IN" sz="2000" kern="1200" dirty="0">
                        <a:solidFill>
                          <a:schemeClr val="dk1"/>
                        </a:solidFill>
                        <a:latin typeface="Times New Roman" pitchFamily="18" charset="0"/>
                        <a:ea typeface="Times New Roman"/>
                        <a:cs typeface="Times New Roman" pitchFamily="18" charset="0"/>
                      </a:endParaRPr>
                    </a:p>
                  </a:txBody>
                  <a:tcPr/>
                </a:tc>
                <a:tc>
                  <a:txBody>
                    <a:bodyPr/>
                    <a:lstStyle/>
                    <a:p>
                      <a:pPr algn="ctr"/>
                      <a:r>
                        <a:rPr lang="en-IN" sz="2000" kern="1200" dirty="0" smtClean="0">
                          <a:latin typeface="Times New Roman" pitchFamily="18" charset="0"/>
                          <a:cs typeface="Times New Roman" pitchFamily="18" charset="0"/>
                        </a:rPr>
                        <a:t>Year of Publication</a:t>
                      </a:r>
                      <a:endParaRPr lang="en-IN" sz="2000" kern="1200" dirty="0">
                        <a:solidFill>
                          <a:schemeClr val="dk1"/>
                        </a:solidFill>
                        <a:latin typeface="Times New Roman" pitchFamily="18" charset="0"/>
                        <a:ea typeface="Times New Roman"/>
                        <a:cs typeface="Times New Roman" pitchFamily="18" charset="0"/>
                      </a:endParaRPr>
                    </a:p>
                  </a:txBody>
                  <a:tcPr/>
                </a:tc>
                <a:tc>
                  <a:txBody>
                    <a:bodyPr/>
                    <a:lstStyle/>
                    <a:p>
                      <a:pPr algn="ctr"/>
                      <a:r>
                        <a:rPr lang="en-IN" sz="2000" kern="1200" dirty="0" smtClean="0">
                          <a:latin typeface="Times New Roman" pitchFamily="18" charset="0"/>
                          <a:cs typeface="Times New Roman" pitchFamily="18" charset="0"/>
                        </a:rPr>
                        <a:t>Work</a:t>
                      </a:r>
                      <a:endParaRPr lang="en-IN" sz="2000" kern="1200" dirty="0">
                        <a:solidFill>
                          <a:schemeClr val="dk1"/>
                        </a:solidFill>
                        <a:latin typeface="Times New Roman" pitchFamily="18" charset="0"/>
                        <a:ea typeface="Times New Roman"/>
                        <a:cs typeface="Times New Roman" pitchFamily="18" charset="0"/>
                      </a:endParaRPr>
                    </a:p>
                  </a:txBody>
                  <a:tcPr/>
                </a:tc>
                <a:tc>
                  <a:txBody>
                    <a:bodyPr/>
                    <a:lstStyle/>
                    <a:p>
                      <a:pPr algn="ctr"/>
                      <a:r>
                        <a:rPr lang="en-IN" sz="2000" kern="1200" dirty="0" smtClean="0">
                          <a:solidFill>
                            <a:schemeClr val="dk1"/>
                          </a:solidFill>
                          <a:latin typeface="Times New Roman" pitchFamily="18" charset="0"/>
                          <a:ea typeface="Times New Roman"/>
                          <a:cs typeface="Times New Roman" pitchFamily="18" charset="0"/>
                        </a:rPr>
                        <a:t>Outcome</a:t>
                      </a:r>
                      <a:endParaRPr lang="en-IN" sz="2000" kern="1200" dirty="0">
                        <a:solidFill>
                          <a:schemeClr val="dk1"/>
                        </a:solidFill>
                        <a:latin typeface="Times New Roman" pitchFamily="18" charset="0"/>
                        <a:ea typeface="Times New Roman"/>
                        <a:cs typeface="Times New Roman" pitchFamily="18" charset="0"/>
                      </a:endParaRPr>
                    </a:p>
                  </a:txBody>
                  <a:tcPr/>
                </a:tc>
              </a:tr>
              <a:tr h="1330896">
                <a:tc>
                  <a:txBody>
                    <a:bodyPr/>
                    <a:lstStyle/>
                    <a:p>
                      <a:pPr algn="ctr"/>
                      <a:r>
                        <a:rPr lang="en-US" sz="2000" kern="1200" dirty="0" smtClean="0">
                          <a:latin typeface="Times New Roman" pitchFamily="18" charset="0"/>
                          <a:cs typeface="Times New Roman" pitchFamily="18" charset="0"/>
                        </a:rPr>
                        <a:t>1</a:t>
                      </a:r>
                      <a:endParaRPr lang="en-IN" sz="2000" kern="1200" dirty="0">
                        <a:solidFill>
                          <a:schemeClr val="dk1"/>
                        </a:solidFill>
                        <a:latin typeface="Times New Roman" pitchFamily="18" charset="0"/>
                        <a:ea typeface="Times New Roman"/>
                        <a:cs typeface="Times New Roman" pitchFamily="18" charset="0"/>
                      </a:endParaRPr>
                    </a:p>
                  </a:txBody>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IN" sz="2000" kern="1200" dirty="0" smtClean="0">
                          <a:solidFill>
                            <a:schemeClr val="dk1"/>
                          </a:solidFill>
                          <a:latin typeface="Times New Roman" pitchFamily="18" charset="0"/>
                          <a:ea typeface="Times New Roman"/>
                          <a:cs typeface="Times New Roman" pitchFamily="18" charset="0"/>
                        </a:rPr>
                        <a:t>F. </a:t>
                      </a:r>
                      <a:r>
                        <a:rPr lang="en-IN" sz="2000" kern="1200" dirty="0" err="1" smtClean="0">
                          <a:solidFill>
                            <a:schemeClr val="dk1"/>
                          </a:solidFill>
                          <a:latin typeface="Times New Roman" pitchFamily="18" charset="0"/>
                          <a:ea typeface="Times New Roman"/>
                          <a:cs typeface="Times New Roman" pitchFamily="18" charset="0"/>
                        </a:rPr>
                        <a:t>Yahya</a:t>
                      </a:r>
                      <a:r>
                        <a:rPr lang="en-IN" sz="2000" kern="1200" dirty="0" smtClean="0">
                          <a:solidFill>
                            <a:schemeClr val="dk1"/>
                          </a:solidFill>
                          <a:latin typeface="Times New Roman" pitchFamily="18" charset="0"/>
                          <a:ea typeface="Times New Roman"/>
                          <a:cs typeface="Times New Roman" pitchFamily="18" charset="0"/>
                        </a:rPr>
                        <a:t> et al., </a:t>
                      </a:r>
                      <a:endParaRPr lang="en-IN" sz="2000" kern="1200" dirty="0">
                        <a:solidFill>
                          <a:schemeClr val="dk1"/>
                        </a:solidFill>
                        <a:latin typeface="Times New Roman" pitchFamily="18" charset="0"/>
                        <a:ea typeface="Times New Roman"/>
                        <a:cs typeface="Times New Roman" pitchFamily="18" charset="0"/>
                      </a:endParaRPr>
                    </a:p>
                  </a:txBody>
                  <a:tcPr/>
                </a:tc>
                <a:tc>
                  <a:txBody>
                    <a:bodyPr/>
                    <a:lstStyle/>
                    <a:p>
                      <a:pPr algn="just"/>
                      <a:r>
                        <a:rPr lang="en-IN" sz="2000" kern="1200" dirty="0" smtClean="0">
                          <a:solidFill>
                            <a:schemeClr val="tx1"/>
                          </a:solidFill>
                          <a:latin typeface="Times New Roman" pitchFamily="18" charset="0"/>
                          <a:ea typeface="+mn-ea"/>
                          <a:cs typeface="Times New Roman" pitchFamily="18" charset="0"/>
                        </a:rPr>
                        <a:t>IEEE 2021</a:t>
                      </a:r>
                      <a:endParaRPr lang="en-US" sz="2000" kern="1200" dirty="0" smtClean="0">
                        <a:solidFill>
                          <a:schemeClr val="tx1"/>
                        </a:solidFill>
                        <a:latin typeface="Times New Roman" pitchFamily="18" charset="0"/>
                        <a:ea typeface="+mn-ea"/>
                        <a:cs typeface="Times New Roman" pitchFamily="18" charset="0"/>
                      </a:endParaRPr>
                    </a:p>
                  </a:txBody>
                  <a:tcPr marL="43815" marR="43815" marT="9525" marB="0"/>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2000" kern="1200" dirty="0" smtClean="0">
                          <a:solidFill>
                            <a:schemeClr val="dk1"/>
                          </a:solidFill>
                          <a:latin typeface="Times New Roman" pitchFamily="18" charset="0"/>
                          <a:ea typeface="Times New Roman"/>
                          <a:cs typeface="Times New Roman" pitchFamily="18" charset="0"/>
                        </a:rPr>
                        <a:t>Detection of </a:t>
                      </a:r>
                      <a:r>
                        <a:rPr lang="en-US" sz="2000" kern="1200" dirty="0" smtClean="0">
                          <a:solidFill>
                            <a:schemeClr val="dk1"/>
                          </a:solidFill>
                          <a:latin typeface="Times New Roman" pitchFamily="18" charset="0"/>
                          <a:ea typeface="Times New Roman"/>
                          <a:cs typeface="Times New Roman" pitchFamily="18" charset="0"/>
                        </a:rPr>
                        <a:t>Phishing </a:t>
                      </a:r>
                      <a:r>
                        <a:rPr lang="en-US" sz="2000" kern="1200" dirty="0" smtClean="0">
                          <a:solidFill>
                            <a:schemeClr val="dk1"/>
                          </a:solidFill>
                          <a:latin typeface="Times New Roman" pitchFamily="18" charset="0"/>
                          <a:ea typeface="Times New Roman"/>
                          <a:cs typeface="Times New Roman" pitchFamily="18" charset="0"/>
                        </a:rPr>
                        <a:t>Websites using Machine Learning Approaches</a:t>
                      </a:r>
                    </a:p>
                  </a:txBody>
                  <a:tcPr marL="43815" marR="43815" marT="9525" marB="0"/>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2000" kern="1200" dirty="0" smtClean="0">
                          <a:solidFill>
                            <a:schemeClr val="dk1"/>
                          </a:solidFill>
                          <a:latin typeface="Times New Roman" pitchFamily="18" charset="0"/>
                          <a:ea typeface="Times New Roman"/>
                          <a:cs typeface="Times New Roman" pitchFamily="18" charset="0"/>
                        </a:rPr>
                        <a:t>Decision Tree has an accuracy of 91.16% , 97.6 % for the KNN model </a:t>
                      </a:r>
                    </a:p>
                  </a:txBody>
                  <a:tcPr/>
                </a:tc>
              </a:tr>
              <a:tr h="1159407">
                <a:tc>
                  <a:txBody>
                    <a:bodyPr/>
                    <a:lstStyle/>
                    <a:p>
                      <a:pPr algn="ctr"/>
                      <a:r>
                        <a:rPr lang="en-US" sz="2000" kern="1200" smtClean="0">
                          <a:latin typeface="Times New Roman" pitchFamily="18" charset="0"/>
                          <a:cs typeface="Times New Roman" pitchFamily="18" charset="0"/>
                        </a:rPr>
                        <a:t>2</a:t>
                      </a:r>
                      <a:endParaRPr lang="en-IN" sz="2000" kern="1200" dirty="0">
                        <a:solidFill>
                          <a:schemeClr val="dk1"/>
                        </a:solidFill>
                        <a:latin typeface="Times New Roman" pitchFamily="18" charset="0"/>
                        <a:ea typeface="Times New Roman"/>
                        <a:cs typeface="Times New Roman" pitchFamily="18" charset="0"/>
                      </a:endParaRPr>
                    </a:p>
                  </a:txBody>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IN" sz="2000" kern="1200" dirty="0" smtClean="0">
                          <a:solidFill>
                            <a:schemeClr val="dk1"/>
                          </a:solidFill>
                          <a:latin typeface="Times New Roman" pitchFamily="18" charset="0"/>
                          <a:ea typeface="Times New Roman"/>
                          <a:cs typeface="Times New Roman" pitchFamily="18" charset="0"/>
                        </a:rPr>
                        <a:t>K. E. </a:t>
                      </a:r>
                      <a:r>
                        <a:rPr lang="en-IN" sz="2000" kern="1200" dirty="0" err="1" smtClean="0">
                          <a:solidFill>
                            <a:schemeClr val="dk1"/>
                          </a:solidFill>
                          <a:latin typeface="Times New Roman" pitchFamily="18" charset="0"/>
                          <a:ea typeface="Times New Roman"/>
                          <a:cs typeface="Times New Roman" pitchFamily="18" charset="0"/>
                        </a:rPr>
                        <a:t>Aydın</a:t>
                      </a:r>
                      <a:r>
                        <a:rPr lang="en-IN" sz="2000" kern="1200" dirty="0" smtClean="0">
                          <a:solidFill>
                            <a:schemeClr val="dk1"/>
                          </a:solidFill>
                          <a:latin typeface="Times New Roman" pitchFamily="18" charset="0"/>
                          <a:ea typeface="Times New Roman"/>
                          <a:cs typeface="Times New Roman" pitchFamily="18" charset="0"/>
                        </a:rPr>
                        <a:t> et al., </a:t>
                      </a:r>
                    </a:p>
                  </a:txBody>
                  <a:tcPr/>
                </a:tc>
                <a:tc>
                  <a:txBody>
                    <a:bodyPr/>
                    <a:lstStyle/>
                    <a:p>
                      <a:pPr algn="just"/>
                      <a:r>
                        <a:rPr lang="en-IN" sz="2000" kern="1200" dirty="0" smtClean="0">
                          <a:solidFill>
                            <a:schemeClr val="tx1"/>
                          </a:solidFill>
                          <a:latin typeface="Times New Roman" pitchFamily="18" charset="0"/>
                          <a:ea typeface="+mn-ea"/>
                          <a:cs typeface="Times New Roman" pitchFamily="18" charset="0"/>
                        </a:rPr>
                        <a:t>IEEE 2020</a:t>
                      </a:r>
                      <a:endParaRPr lang="en-US" sz="2000" kern="1200" dirty="0" smtClean="0">
                        <a:solidFill>
                          <a:schemeClr val="tx1"/>
                        </a:solidFill>
                        <a:latin typeface="Times New Roman" pitchFamily="18" charset="0"/>
                        <a:ea typeface="+mn-ea"/>
                        <a:cs typeface="Times New Roman" pitchFamily="18" charset="0"/>
                      </a:endParaRPr>
                    </a:p>
                  </a:txBody>
                  <a:tcPr marL="43815" marR="43815" marT="9525" marB="0"/>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2000" kern="1200" dirty="0" smtClean="0">
                          <a:solidFill>
                            <a:schemeClr val="dk1"/>
                          </a:solidFill>
                          <a:latin typeface="Times New Roman" pitchFamily="18" charset="0"/>
                          <a:ea typeface="Times New Roman"/>
                          <a:cs typeface="Times New Roman" pitchFamily="18" charset="0"/>
                        </a:rPr>
                        <a:t>Machine Learning for Web Content Classification</a:t>
                      </a:r>
                      <a:endParaRPr lang="en-US" sz="2000" kern="1200" dirty="0">
                        <a:solidFill>
                          <a:schemeClr val="dk1"/>
                        </a:solidFill>
                        <a:latin typeface="Times New Roman" pitchFamily="18" charset="0"/>
                        <a:ea typeface="Times New Roman"/>
                        <a:cs typeface="Times New Roman" pitchFamily="18" charset="0"/>
                      </a:endParaRPr>
                    </a:p>
                  </a:txBody>
                  <a:tcPr marL="43815" marR="43815" marT="9525" marB="0"/>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2000" kern="1200" dirty="0" smtClean="0">
                          <a:solidFill>
                            <a:schemeClr val="dk1"/>
                          </a:solidFill>
                          <a:latin typeface="Times New Roman" pitchFamily="18" charset="0"/>
                          <a:ea typeface="Times New Roman"/>
                          <a:cs typeface="Times New Roman" pitchFamily="18" charset="0"/>
                        </a:rPr>
                        <a:t>Highest classification success was 87.56% </a:t>
                      </a:r>
                    </a:p>
                  </a:txBody>
                  <a:tcPr/>
                </a:tc>
              </a:tr>
              <a:tr h="1498713">
                <a:tc>
                  <a:txBody>
                    <a:bodyPr/>
                    <a:lstStyle/>
                    <a:p>
                      <a:pPr algn="ctr"/>
                      <a:r>
                        <a:rPr lang="en-US" sz="2000" kern="1200" dirty="0" smtClean="0">
                          <a:latin typeface="Times New Roman" pitchFamily="18" charset="0"/>
                          <a:cs typeface="Times New Roman" pitchFamily="18" charset="0"/>
                        </a:rPr>
                        <a:t>3</a:t>
                      </a:r>
                      <a:endParaRPr lang="en-IN" sz="2000" kern="1200" dirty="0">
                        <a:solidFill>
                          <a:schemeClr val="dk1"/>
                        </a:solidFill>
                        <a:latin typeface="Times New Roman" pitchFamily="18" charset="0"/>
                        <a:ea typeface="Times New Roman"/>
                        <a:cs typeface="Times New Roman" pitchFamily="18" charset="0"/>
                      </a:endParaRPr>
                    </a:p>
                  </a:txBody>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IN" sz="2000" kern="1200" dirty="0" smtClean="0">
                          <a:solidFill>
                            <a:schemeClr val="dk1"/>
                          </a:solidFill>
                          <a:latin typeface="Times New Roman" pitchFamily="18" charset="0"/>
                          <a:ea typeface="Times New Roman"/>
                          <a:cs typeface="Times New Roman" pitchFamily="18" charset="0"/>
                        </a:rPr>
                        <a:t>N. </a:t>
                      </a:r>
                      <a:r>
                        <a:rPr lang="en-IN" sz="2000" kern="1200" dirty="0" err="1" smtClean="0">
                          <a:solidFill>
                            <a:schemeClr val="dk1"/>
                          </a:solidFill>
                          <a:latin typeface="Times New Roman" pitchFamily="18" charset="0"/>
                          <a:ea typeface="Times New Roman"/>
                          <a:cs typeface="Times New Roman" pitchFamily="18" charset="0"/>
                        </a:rPr>
                        <a:t>Megha</a:t>
                      </a:r>
                      <a:r>
                        <a:rPr lang="en-IN" sz="2000" kern="1200" dirty="0" smtClean="0">
                          <a:solidFill>
                            <a:schemeClr val="dk1"/>
                          </a:solidFill>
                          <a:latin typeface="Times New Roman" pitchFamily="18" charset="0"/>
                          <a:ea typeface="Times New Roman"/>
                          <a:cs typeface="Times New Roman" pitchFamily="18" charset="0"/>
                        </a:rPr>
                        <a:t> et al., </a:t>
                      </a:r>
                      <a:endParaRPr lang="en-IN" sz="2000" kern="1200" dirty="0">
                        <a:solidFill>
                          <a:schemeClr val="dk1"/>
                        </a:solidFill>
                        <a:latin typeface="Times New Roman" pitchFamily="18" charset="0"/>
                        <a:ea typeface="Times New Roman"/>
                        <a:cs typeface="Times New Roman" pitchFamily="18" charset="0"/>
                      </a:endParaRPr>
                    </a:p>
                  </a:txBody>
                  <a:tcPr/>
                </a:tc>
                <a:tc>
                  <a:txBody>
                    <a:bodyPr/>
                    <a:lstStyle/>
                    <a:p>
                      <a:pPr algn="just"/>
                      <a:r>
                        <a:rPr lang="en-IN" sz="2000" kern="1200" dirty="0" smtClean="0">
                          <a:solidFill>
                            <a:schemeClr val="tx1"/>
                          </a:solidFill>
                          <a:latin typeface="Times New Roman" pitchFamily="18" charset="0"/>
                          <a:ea typeface="+mn-ea"/>
                          <a:cs typeface="Times New Roman" pitchFamily="18" charset="0"/>
                        </a:rPr>
                        <a:t>IEEE 2019</a:t>
                      </a:r>
                      <a:endParaRPr lang="en-US" sz="2000" kern="1200" dirty="0" smtClean="0">
                        <a:solidFill>
                          <a:schemeClr val="tx1"/>
                        </a:solidFill>
                        <a:latin typeface="Times New Roman" pitchFamily="18" charset="0"/>
                        <a:ea typeface="+mn-ea"/>
                        <a:cs typeface="Times New Roman" pitchFamily="18" charset="0"/>
                      </a:endParaRPr>
                    </a:p>
                  </a:txBody>
                  <a:tcPr marL="43815" marR="43815" marT="9525" marB="0"/>
                </a:tc>
                <a:tc>
                  <a:txBody>
                    <a:bodyPr/>
                    <a:lstStyle/>
                    <a:p>
                      <a:pPr marL="0" marR="0" indent="0" algn="just" defTabSz="914400" rtl="0" eaLnBrk="1" fontAlgn="auto" latinLnBrk="0" hangingPunct="1">
                        <a:lnSpc>
                          <a:spcPct val="115000"/>
                        </a:lnSpc>
                        <a:spcBef>
                          <a:spcPts val="0"/>
                        </a:spcBef>
                        <a:spcAft>
                          <a:spcPts val="1000"/>
                        </a:spcAft>
                        <a:buClrTx/>
                        <a:buSzTx/>
                        <a:buFontTx/>
                        <a:buNone/>
                        <a:tabLst/>
                        <a:defRPr/>
                      </a:pPr>
                      <a:r>
                        <a:rPr lang="en-US" sz="2000" kern="1200" dirty="0" smtClean="0">
                          <a:solidFill>
                            <a:schemeClr val="dk1"/>
                          </a:solidFill>
                          <a:latin typeface="Times New Roman" pitchFamily="18" charset="0"/>
                          <a:ea typeface="Times New Roman"/>
                          <a:cs typeface="Times New Roman" pitchFamily="18" charset="0"/>
                        </a:rPr>
                        <a:t>An Intelligent System for Phishing Attack Detection and Prevention</a:t>
                      </a:r>
                      <a:endParaRPr lang="en-US" sz="2000" kern="1200" dirty="0">
                        <a:solidFill>
                          <a:schemeClr val="dk1"/>
                        </a:solidFill>
                        <a:latin typeface="Times New Roman" pitchFamily="18" charset="0"/>
                        <a:ea typeface="Times New Roman"/>
                        <a:cs typeface="Times New Roman" pitchFamily="18" charset="0"/>
                      </a:endParaRPr>
                    </a:p>
                  </a:txBody>
                  <a:tcPr marL="43815" marR="43815" marT="9525" marB="0"/>
                </a:tc>
                <a:tc>
                  <a:txBody>
                    <a:bodyPr/>
                    <a:lstStyle/>
                    <a:p>
                      <a:pPr algn="just"/>
                      <a:r>
                        <a:rPr lang="en-US" sz="2000" kern="1200" dirty="0" smtClean="0">
                          <a:solidFill>
                            <a:schemeClr val="dk1"/>
                          </a:solidFill>
                          <a:latin typeface="Times New Roman" pitchFamily="18" charset="0"/>
                          <a:ea typeface="Times New Roman"/>
                          <a:cs typeface="Times New Roman" pitchFamily="18" charset="0"/>
                        </a:rPr>
                        <a:t>Performance and accuracy of the proposed method and obtained results ensures its efficiency.</a:t>
                      </a:r>
                    </a:p>
                    <a:p>
                      <a:pPr algn="just"/>
                      <a:endParaRPr lang="en-US" sz="2000" kern="1200" dirty="0" smtClean="0">
                        <a:solidFill>
                          <a:schemeClr val="dk1"/>
                        </a:solidFill>
                        <a:latin typeface="Times New Roman" pitchFamily="18" charset="0"/>
                        <a:ea typeface="Times New Roman"/>
                        <a:cs typeface="Times New Roman" pitchFamily="18" charset="0"/>
                      </a:endParaRPr>
                    </a:p>
                  </a:txBody>
                  <a:tcPr/>
                </a:tc>
              </a:tr>
            </a:tbl>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152400" y="245735"/>
          <a:ext cx="8762999" cy="6383665"/>
        </p:xfrm>
        <a:graphic>
          <a:graphicData uri="http://schemas.openxmlformats.org/drawingml/2006/table">
            <a:tbl>
              <a:tblPr firstRow="1" bandRow="1">
                <a:tableStyleId>{5940675A-B579-460E-94D1-54222C63F5DA}</a:tableStyleId>
              </a:tblPr>
              <a:tblGrid>
                <a:gridCol w="641166"/>
                <a:gridCol w="1147443"/>
                <a:gridCol w="1617489"/>
                <a:gridCol w="2383740"/>
                <a:gridCol w="2973161"/>
              </a:tblGrid>
              <a:tr h="954461">
                <a:tc>
                  <a:txBody>
                    <a:bodyPr/>
                    <a:lstStyle/>
                    <a:p>
                      <a:pPr algn="ctr"/>
                      <a:r>
                        <a:rPr lang="en-IN" sz="2000" kern="1200" dirty="0" smtClean="0">
                          <a:latin typeface="Times New Roman" pitchFamily="18" charset="0"/>
                          <a:cs typeface="Times New Roman" pitchFamily="18" charset="0"/>
                        </a:rPr>
                        <a:t>Sr. no</a:t>
                      </a:r>
                      <a:endParaRPr lang="en-IN" sz="2000" kern="1200" dirty="0">
                        <a:solidFill>
                          <a:schemeClr val="dk1"/>
                        </a:solidFill>
                        <a:latin typeface="Times New Roman" pitchFamily="18" charset="0"/>
                        <a:ea typeface="Times New Roman"/>
                        <a:cs typeface="Times New Roman" pitchFamily="18" charset="0"/>
                      </a:endParaRPr>
                    </a:p>
                  </a:txBody>
                  <a:tcPr/>
                </a:tc>
                <a:tc>
                  <a:txBody>
                    <a:bodyPr/>
                    <a:lstStyle/>
                    <a:p>
                      <a:pPr algn="ctr"/>
                      <a:r>
                        <a:rPr lang="en-IN" sz="2000" kern="1200" dirty="0" smtClean="0">
                          <a:latin typeface="Times New Roman" pitchFamily="18" charset="0"/>
                          <a:cs typeface="Times New Roman" pitchFamily="18" charset="0"/>
                        </a:rPr>
                        <a:t>Author Name</a:t>
                      </a:r>
                      <a:endParaRPr lang="en-IN" sz="2000" kern="1200" dirty="0">
                        <a:solidFill>
                          <a:schemeClr val="dk1"/>
                        </a:solidFill>
                        <a:latin typeface="Times New Roman" pitchFamily="18" charset="0"/>
                        <a:ea typeface="Times New Roman"/>
                        <a:cs typeface="Times New Roman" pitchFamily="18" charset="0"/>
                      </a:endParaRPr>
                    </a:p>
                  </a:txBody>
                  <a:tcPr/>
                </a:tc>
                <a:tc>
                  <a:txBody>
                    <a:bodyPr/>
                    <a:lstStyle/>
                    <a:p>
                      <a:pPr algn="ctr"/>
                      <a:r>
                        <a:rPr lang="en-IN" sz="2000" kern="1200" dirty="0" smtClean="0">
                          <a:latin typeface="Times New Roman" pitchFamily="18" charset="0"/>
                          <a:cs typeface="Times New Roman" pitchFamily="18" charset="0"/>
                        </a:rPr>
                        <a:t>Year of Publication</a:t>
                      </a:r>
                      <a:endParaRPr lang="en-IN" sz="2000" kern="1200" dirty="0">
                        <a:solidFill>
                          <a:schemeClr val="dk1"/>
                        </a:solidFill>
                        <a:latin typeface="Times New Roman" pitchFamily="18" charset="0"/>
                        <a:ea typeface="Times New Roman"/>
                        <a:cs typeface="Times New Roman" pitchFamily="18" charset="0"/>
                      </a:endParaRPr>
                    </a:p>
                  </a:txBody>
                  <a:tcPr/>
                </a:tc>
                <a:tc>
                  <a:txBody>
                    <a:bodyPr/>
                    <a:lstStyle/>
                    <a:p>
                      <a:pPr algn="ctr"/>
                      <a:r>
                        <a:rPr lang="en-IN" sz="2000" kern="1200" dirty="0" smtClean="0">
                          <a:latin typeface="Times New Roman" pitchFamily="18" charset="0"/>
                          <a:cs typeface="Times New Roman" pitchFamily="18" charset="0"/>
                        </a:rPr>
                        <a:t>Work</a:t>
                      </a:r>
                      <a:endParaRPr lang="en-IN" sz="2000" kern="1200" dirty="0">
                        <a:solidFill>
                          <a:schemeClr val="dk1"/>
                        </a:solidFill>
                        <a:latin typeface="Times New Roman" pitchFamily="18" charset="0"/>
                        <a:ea typeface="Times New Roman"/>
                        <a:cs typeface="Times New Roman" pitchFamily="18" charset="0"/>
                      </a:endParaRPr>
                    </a:p>
                  </a:txBody>
                  <a:tcPr/>
                </a:tc>
                <a:tc>
                  <a:txBody>
                    <a:bodyPr/>
                    <a:lstStyle/>
                    <a:p>
                      <a:pPr algn="ctr"/>
                      <a:r>
                        <a:rPr lang="en-IN" sz="2000" kern="1200" dirty="0" smtClean="0">
                          <a:solidFill>
                            <a:schemeClr val="dk1"/>
                          </a:solidFill>
                          <a:latin typeface="Times New Roman" pitchFamily="18" charset="0"/>
                          <a:ea typeface="Times New Roman"/>
                          <a:cs typeface="Times New Roman" pitchFamily="18" charset="0"/>
                        </a:rPr>
                        <a:t>Outcome</a:t>
                      </a:r>
                      <a:endParaRPr lang="en-IN" sz="2000" kern="1200" dirty="0">
                        <a:solidFill>
                          <a:schemeClr val="dk1"/>
                        </a:solidFill>
                        <a:latin typeface="Times New Roman" pitchFamily="18" charset="0"/>
                        <a:ea typeface="Times New Roman"/>
                        <a:cs typeface="Times New Roman" pitchFamily="18" charset="0"/>
                      </a:endParaRPr>
                    </a:p>
                  </a:txBody>
                  <a:tcPr/>
                </a:tc>
              </a:tr>
              <a:tr h="1746410">
                <a:tc>
                  <a:txBody>
                    <a:bodyPr/>
                    <a:lstStyle/>
                    <a:p>
                      <a:pPr algn="ctr"/>
                      <a:r>
                        <a:rPr lang="en-IN" sz="2000" kern="1200" dirty="0" smtClean="0">
                          <a:solidFill>
                            <a:schemeClr val="dk1"/>
                          </a:solidFill>
                          <a:latin typeface="Times New Roman" pitchFamily="18" charset="0"/>
                          <a:ea typeface="Times New Roman"/>
                          <a:cs typeface="Times New Roman" pitchFamily="18" charset="0"/>
                        </a:rPr>
                        <a:t>4</a:t>
                      </a:r>
                      <a:endParaRPr lang="en-IN" sz="2000" kern="1200" dirty="0">
                        <a:solidFill>
                          <a:schemeClr val="dk1"/>
                        </a:solidFill>
                        <a:latin typeface="Times New Roman" pitchFamily="18" charset="0"/>
                        <a:ea typeface="Times New Roman"/>
                        <a:cs typeface="Times New Roman" pitchFamily="18" charset="0"/>
                      </a:endParaRPr>
                    </a:p>
                  </a:txBody>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IN" sz="2000" kern="1200" dirty="0" smtClean="0">
                          <a:solidFill>
                            <a:schemeClr val="dk1"/>
                          </a:solidFill>
                          <a:latin typeface="Times New Roman" pitchFamily="18" charset="0"/>
                          <a:ea typeface="Times New Roman"/>
                          <a:cs typeface="Times New Roman" pitchFamily="18" charset="0"/>
                        </a:rPr>
                        <a:t>M. </a:t>
                      </a:r>
                      <a:r>
                        <a:rPr lang="en-IN" sz="2000" kern="1200" dirty="0" err="1" smtClean="0">
                          <a:solidFill>
                            <a:schemeClr val="dk1"/>
                          </a:solidFill>
                          <a:latin typeface="Times New Roman" pitchFamily="18" charset="0"/>
                          <a:ea typeface="Times New Roman"/>
                          <a:cs typeface="Times New Roman" pitchFamily="18" charset="0"/>
                        </a:rPr>
                        <a:t>Karabatak</a:t>
                      </a:r>
                      <a:r>
                        <a:rPr lang="en-IN" sz="2000" kern="1200" dirty="0" smtClean="0">
                          <a:solidFill>
                            <a:schemeClr val="dk1"/>
                          </a:solidFill>
                          <a:latin typeface="Times New Roman" pitchFamily="18" charset="0"/>
                          <a:ea typeface="Times New Roman"/>
                          <a:cs typeface="Times New Roman" pitchFamily="18" charset="0"/>
                        </a:rPr>
                        <a:t> </a:t>
                      </a:r>
                    </a:p>
                    <a:p>
                      <a:pPr marL="0" marR="0" indent="0" algn="just" defTabSz="914400" rtl="0" eaLnBrk="1" fontAlgn="auto" latinLnBrk="0" hangingPunct="1">
                        <a:lnSpc>
                          <a:spcPct val="100000"/>
                        </a:lnSpc>
                        <a:spcBef>
                          <a:spcPts val="0"/>
                        </a:spcBef>
                        <a:spcAft>
                          <a:spcPts val="0"/>
                        </a:spcAft>
                        <a:buClrTx/>
                        <a:buSzTx/>
                        <a:buFontTx/>
                        <a:buNone/>
                        <a:tabLst/>
                        <a:defRPr/>
                      </a:pPr>
                      <a:r>
                        <a:rPr lang="en-IN" sz="2000" kern="1200" dirty="0" smtClean="0">
                          <a:solidFill>
                            <a:schemeClr val="dk1"/>
                          </a:solidFill>
                          <a:latin typeface="Times New Roman" pitchFamily="18" charset="0"/>
                          <a:ea typeface="Times New Roman"/>
                          <a:cs typeface="Times New Roman" pitchFamily="18" charset="0"/>
                        </a:rPr>
                        <a:t>et al., </a:t>
                      </a:r>
                      <a:endParaRPr lang="en-IN" sz="2000" kern="1200" dirty="0">
                        <a:solidFill>
                          <a:schemeClr val="dk1"/>
                        </a:solidFill>
                        <a:latin typeface="Times New Roman" pitchFamily="18" charset="0"/>
                        <a:ea typeface="Times New Roman"/>
                        <a:cs typeface="Times New Roman" pitchFamily="18" charset="0"/>
                      </a:endParaRPr>
                    </a:p>
                  </a:txBody>
                  <a:tcPr/>
                </a:tc>
                <a:tc>
                  <a:txBody>
                    <a:bodyPr/>
                    <a:lstStyle/>
                    <a:p>
                      <a:pPr algn="just"/>
                      <a:r>
                        <a:rPr lang="en-IN" sz="2000" kern="1200" dirty="0" smtClean="0">
                          <a:solidFill>
                            <a:schemeClr val="tx1"/>
                          </a:solidFill>
                          <a:latin typeface="Times New Roman" pitchFamily="18" charset="0"/>
                          <a:ea typeface="+mn-ea"/>
                          <a:cs typeface="Times New Roman" pitchFamily="18" charset="0"/>
                        </a:rPr>
                        <a:t>IEEE 2018</a:t>
                      </a:r>
                      <a:endParaRPr lang="en-US" sz="2000" kern="1200" dirty="0" smtClean="0">
                        <a:solidFill>
                          <a:schemeClr val="tx1"/>
                        </a:solidFill>
                        <a:latin typeface="Times New Roman" pitchFamily="18" charset="0"/>
                        <a:ea typeface="+mn-ea"/>
                        <a:cs typeface="Times New Roman" pitchFamily="18" charset="0"/>
                      </a:endParaRPr>
                    </a:p>
                  </a:txBody>
                  <a:tcPr marL="43815" marR="43815" marT="9525" marB="0"/>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2000" kern="1200" dirty="0" smtClean="0">
                          <a:solidFill>
                            <a:schemeClr val="dk1"/>
                          </a:solidFill>
                          <a:latin typeface="Times New Roman" pitchFamily="18" charset="0"/>
                          <a:ea typeface="Times New Roman"/>
                          <a:cs typeface="Times New Roman" pitchFamily="18" charset="0"/>
                        </a:rPr>
                        <a:t>Performance comparison of classifiers on reduced phishing website dataset</a:t>
                      </a:r>
                    </a:p>
                  </a:txBody>
                  <a:tcPr marL="43815" marR="43815" marT="9525" marB="0"/>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2000" kern="1200" dirty="0" smtClean="0">
                          <a:solidFill>
                            <a:schemeClr val="dk1"/>
                          </a:solidFill>
                          <a:latin typeface="Times New Roman" pitchFamily="18" charset="0"/>
                          <a:ea typeface="Times New Roman"/>
                          <a:cs typeface="Times New Roman" pitchFamily="18" charset="0"/>
                        </a:rPr>
                        <a:t>Feature selection algorithms were applied to reduce the dimension of phishing website dataset and to obtain higher classification performance</a:t>
                      </a:r>
                    </a:p>
                  </a:txBody>
                  <a:tcPr/>
                </a:tc>
              </a:tr>
              <a:tr h="1746410">
                <a:tc>
                  <a:txBody>
                    <a:bodyPr/>
                    <a:lstStyle/>
                    <a:p>
                      <a:pPr algn="ctr"/>
                      <a:r>
                        <a:rPr lang="en-IN" sz="2000" kern="1200" dirty="0" smtClean="0">
                          <a:solidFill>
                            <a:schemeClr val="dk1"/>
                          </a:solidFill>
                          <a:latin typeface="Times New Roman" pitchFamily="18" charset="0"/>
                          <a:ea typeface="Times New Roman"/>
                          <a:cs typeface="Times New Roman" pitchFamily="18" charset="0"/>
                        </a:rPr>
                        <a:t>5</a:t>
                      </a:r>
                      <a:endParaRPr lang="en-IN" sz="2000" kern="1200" dirty="0">
                        <a:solidFill>
                          <a:schemeClr val="dk1"/>
                        </a:solidFill>
                        <a:latin typeface="Times New Roman" pitchFamily="18" charset="0"/>
                        <a:ea typeface="Times New Roman"/>
                        <a:cs typeface="Times New Roman" pitchFamily="18" charset="0"/>
                      </a:endParaRPr>
                    </a:p>
                  </a:txBody>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IN" sz="2000" kern="1200" dirty="0" smtClean="0">
                          <a:solidFill>
                            <a:schemeClr val="dk1"/>
                          </a:solidFill>
                          <a:latin typeface="Times New Roman" pitchFamily="18" charset="0"/>
                          <a:ea typeface="Times New Roman"/>
                          <a:cs typeface="Times New Roman" pitchFamily="18" charset="0"/>
                        </a:rPr>
                        <a:t>F. Ali et al., </a:t>
                      </a:r>
                    </a:p>
                  </a:txBody>
                  <a:tcPr/>
                </a:tc>
                <a:tc>
                  <a:txBody>
                    <a:bodyPr/>
                    <a:lstStyle/>
                    <a:p>
                      <a:pPr algn="just"/>
                      <a:r>
                        <a:rPr lang="en-IN" sz="2000" kern="1200" dirty="0" smtClean="0">
                          <a:solidFill>
                            <a:schemeClr val="tx1"/>
                          </a:solidFill>
                          <a:latin typeface="Times New Roman" pitchFamily="18" charset="0"/>
                          <a:ea typeface="+mn-ea"/>
                          <a:cs typeface="Times New Roman" pitchFamily="18" charset="0"/>
                        </a:rPr>
                        <a:t>IEEE 2017</a:t>
                      </a:r>
                      <a:endParaRPr lang="en-US" sz="2000" kern="1200" dirty="0" smtClean="0">
                        <a:solidFill>
                          <a:schemeClr val="tx1"/>
                        </a:solidFill>
                        <a:latin typeface="Times New Roman" pitchFamily="18" charset="0"/>
                        <a:ea typeface="+mn-ea"/>
                        <a:cs typeface="Times New Roman" pitchFamily="18" charset="0"/>
                      </a:endParaRPr>
                    </a:p>
                  </a:txBody>
                  <a:tcPr marL="43815" marR="43815" marT="9525" marB="0"/>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2000" kern="1200" dirty="0" smtClean="0">
                          <a:solidFill>
                            <a:schemeClr val="dk1"/>
                          </a:solidFill>
                          <a:latin typeface="Times New Roman" pitchFamily="18" charset="0"/>
                          <a:ea typeface="Times New Roman"/>
                          <a:cs typeface="Times New Roman" pitchFamily="18" charset="0"/>
                        </a:rPr>
                        <a:t>A Fuzzy Ontology and SVM–Based Web Content Classification System</a:t>
                      </a:r>
                      <a:endParaRPr lang="en-US" sz="2000" kern="1200" dirty="0">
                        <a:solidFill>
                          <a:schemeClr val="dk1"/>
                        </a:solidFill>
                        <a:latin typeface="Times New Roman" pitchFamily="18" charset="0"/>
                        <a:ea typeface="Times New Roman"/>
                        <a:cs typeface="Times New Roman" pitchFamily="18" charset="0"/>
                      </a:endParaRPr>
                    </a:p>
                  </a:txBody>
                  <a:tcPr marL="43815" marR="43815" marT="9525" marB="0"/>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2000" kern="1200" dirty="0" smtClean="0">
                          <a:solidFill>
                            <a:schemeClr val="dk1"/>
                          </a:solidFill>
                          <a:latin typeface="Times New Roman" pitchFamily="18" charset="0"/>
                          <a:ea typeface="Times New Roman"/>
                          <a:cs typeface="Times New Roman" pitchFamily="18" charset="0"/>
                        </a:rPr>
                        <a:t>Proposed fuzzy ontology then extracts web content to find website type (adult content, normal, and medical) </a:t>
                      </a:r>
                    </a:p>
                  </a:txBody>
                  <a:tcPr/>
                </a:tc>
              </a:tr>
              <a:tr h="1762554">
                <a:tc>
                  <a:txBody>
                    <a:bodyPr/>
                    <a:lstStyle/>
                    <a:p>
                      <a:pPr algn="ctr"/>
                      <a:r>
                        <a:rPr lang="en-IN" sz="2000" kern="1200" dirty="0" smtClean="0">
                          <a:solidFill>
                            <a:schemeClr val="dk1"/>
                          </a:solidFill>
                          <a:latin typeface="Times New Roman" pitchFamily="18" charset="0"/>
                          <a:ea typeface="Times New Roman"/>
                          <a:cs typeface="Times New Roman" pitchFamily="18" charset="0"/>
                        </a:rPr>
                        <a:t>6</a:t>
                      </a:r>
                      <a:endParaRPr lang="en-IN" sz="2000" kern="1200" dirty="0">
                        <a:solidFill>
                          <a:schemeClr val="dk1"/>
                        </a:solidFill>
                        <a:latin typeface="Times New Roman" pitchFamily="18" charset="0"/>
                        <a:ea typeface="Times New Roman"/>
                        <a:cs typeface="Times New Roman" pitchFamily="18" charset="0"/>
                      </a:endParaRPr>
                    </a:p>
                  </a:txBody>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IN" sz="2000" kern="1200" dirty="0" smtClean="0">
                          <a:solidFill>
                            <a:schemeClr val="dk1"/>
                          </a:solidFill>
                          <a:latin typeface="Times New Roman" pitchFamily="18" charset="0"/>
                          <a:ea typeface="Times New Roman"/>
                          <a:cs typeface="Times New Roman" pitchFamily="18" charset="0"/>
                        </a:rPr>
                        <a:t>S. </a:t>
                      </a:r>
                      <a:r>
                        <a:rPr lang="en-IN" sz="2000" kern="1200" dirty="0" err="1" smtClean="0">
                          <a:solidFill>
                            <a:schemeClr val="dk1"/>
                          </a:solidFill>
                          <a:latin typeface="Times New Roman" pitchFamily="18" charset="0"/>
                          <a:ea typeface="Times New Roman"/>
                          <a:cs typeface="Times New Roman" pitchFamily="18" charset="0"/>
                        </a:rPr>
                        <a:t>Khurshid</a:t>
                      </a:r>
                      <a:r>
                        <a:rPr lang="en-IN" sz="2000" kern="1200" dirty="0" smtClean="0">
                          <a:solidFill>
                            <a:schemeClr val="dk1"/>
                          </a:solidFill>
                          <a:latin typeface="Times New Roman" pitchFamily="18" charset="0"/>
                          <a:ea typeface="Times New Roman"/>
                          <a:cs typeface="Times New Roman" pitchFamily="18" charset="0"/>
                        </a:rPr>
                        <a:t> et al., </a:t>
                      </a:r>
                      <a:endParaRPr lang="en-IN" sz="2000" kern="1200" dirty="0">
                        <a:solidFill>
                          <a:schemeClr val="dk1"/>
                        </a:solidFill>
                        <a:latin typeface="Times New Roman" pitchFamily="18" charset="0"/>
                        <a:ea typeface="Times New Roman"/>
                        <a:cs typeface="Times New Roman" pitchFamily="18" charset="0"/>
                      </a:endParaRPr>
                    </a:p>
                  </a:txBody>
                  <a:tcPr/>
                </a:tc>
                <a:tc>
                  <a:txBody>
                    <a:bodyPr/>
                    <a:lstStyle/>
                    <a:p>
                      <a:pPr algn="just"/>
                      <a:r>
                        <a:rPr lang="en-IN" sz="2000" kern="1200" dirty="0" smtClean="0">
                          <a:solidFill>
                            <a:schemeClr val="tx1"/>
                          </a:solidFill>
                          <a:latin typeface="Times New Roman" pitchFamily="18" charset="0"/>
                          <a:ea typeface="+mn-ea"/>
                          <a:cs typeface="Times New Roman" pitchFamily="18" charset="0"/>
                        </a:rPr>
                        <a:t>IEEE 2017</a:t>
                      </a:r>
                      <a:endParaRPr lang="en-US" sz="2000" kern="1200" dirty="0" smtClean="0">
                        <a:solidFill>
                          <a:schemeClr val="tx1"/>
                        </a:solidFill>
                        <a:latin typeface="Times New Roman" pitchFamily="18" charset="0"/>
                        <a:ea typeface="+mn-ea"/>
                        <a:cs typeface="Times New Roman" pitchFamily="18" charset="0"/>
                      </a:endParaRPr>
                    </a:p>
                  </a:txBody>
                  <a:tcPr marL="43815" marR="43815" marT="9525" marB="0"/>
                </a:tc>
                <a:tc>
                  <a:txBody>
                    <a:bodyPr/>
                    <a:lstStyle/>
                    <a:p>
                      <a:pPr marL="0" marR="0" indent="0" algn="just" defTabSz="914400" rtl="0" eaLnBrk="1" fontAlgn="auto" latinLnBrk="0" hangingPunct="1">
                        <a:lnSpc>
                          <a:spcPct val="115000"/>
                        </a:lnSpc>
                        <a:spcBef>
                          <a:spcPts val="0"/>
                        </a:spcBef>
                        <a:spcAft>
                          <a:spcPts val="1000"/>
                        </a:spcAft>
                        <a:buClrTx/>
                        <a:buSzTx/>
                        <a:buFontTx/>
                        <a:buNone/>
                        <a:tabLst/>
                        <a:defRPr/>
                      </a:pPr>
                      <a:r>
                        <a:rPr lang="en-US" sz="2000" kern="1200" dirty="0" smtClean="0">
                          <a:solidFill>
                            <a:schemeClr val="dk1"/>
                          </a:solidFill>
                          <a:latin typeface="Times New Roman" pitchFamily="18" charset="0"/>
                          <a:ea typeface="Times New Roman"/>
                          <a:cs typeface="Times New Roman" pitchFamily="18" charset="0"/>
                        </a:rPr>
                        <a:t>Text-Based Intelligent Content Filtering on Social Platforms.</a:t>
                      </a:r>
                      <a:endParaRPr lang="en-US" sz="2000" kern="1200" dirty="0">
                        <a:solidFill>
                          <a:schemeClr val="dk1"/>
                        </a:solidFill>
                        <a:latin typeface="Times New Roman" pitchFamily="18" charset="0"/>
                        <a:ea typeface="Times New Roman"/>
                        <a:cs typeface="Times New Roman" pitchFamily="18" charset="0"/>
                      </a:endParaRPr>
                    </a:p>
                  </a:txBody>
                  <a:tcPr marL="43815" marR="43815" marT="9525" marB="0"/>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2000" kern="1200" dirty="0" smtClean="0">
                          <a:solidFill>
                            <a:schemeClr val="dk1"/>
                          </a:solidFill>
                          <a:latin typeface="Times New Roman" pitchFamily="18" charset="0"/>
                          <a:ea typeface="Times New Roman"/>
                          <a:cs typeface="Times New Roman" pitchFamily="18" charset="0"/>
                        </a:rPr>
                        <a:t>Propose filtering technique uses sentiment analysis of the text and feature engineering </a:t>
                      </a:r>
                    </a:p>
                  </a:txBody>
                  <a:tcPr/>
                </a:tc>
              </a:tr>
            </a:tbl>
          </a:graphicData>
        </a:graphic>
      </p:graphicFrame>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86800" cy="685800"/>
          </a:xfrm>
        </p:spPr>
        <p:txBody>
          <a:bodyPr>
            <a:noAutofit/>
          </a:bodyPr>
          <a:lstStyle/>
          <a:p>
            <a:r>
              <a:rPr lang="en-US" sz="3200" dirty="0" smtClean="0">
                <a:latin typeface="Times New Roman" pitchFamily="18" charset="0"/>
                <a:cs typeface="Times New Roman" pitchFamily="18" charset="0"/>
              </a:rPr>
              <a:t>PROBLEM </a:t>
            </a:r>
            <a:r>
              <a:rPr lang="en-IN" sz="3200" dirty="0" smtClean="0">
                <a:latin typeface="Times New Roman" pitchFamily="18" charset="0"/>
                <a:cs typeface="Times New Roman" pitchFamily="18" charset="0"/>
              </a:rPr>
              <a:t>IDENTIFICATION</a:t>
            </a:r>
            <a:r>
              <a:rPr lang="en-US" sz="3200" dirty="0" smtClean="0">
                <a:latin typeface="Times New Roman" pitchFamily="18" charset="0"/>
                <a:cs typeface="Times New Roman" pitchFamily="18" charset="0"/>
              </a:rPr>
              <a:t> </a:t>
            </a:r>
            <a:r>
              <a:rPr lang="en-US" sz="3200" b="1" dirty="0" smtClean="0">
                <a:latin typeface="Times New Roman" pitchFamily="18" charset="0"/>
                <a:cs typeface="Times New Roman" pitchFamily="18" charset="0"/>
              </a:rPr>
              <a:t/>
            </a:r>
            <a:br>
              <a:rPr lang="en-US" sz="3200" b="1" dirty="0" smtClean="0">
                <a:latin typeface="Times New Roman" pitchFamily="18" charset="0"/>
                <a:cs typeface="Times New Roman" pitchFamily="18" charset="0"/>
              </a:rPr>
            </a:br>
            <a:endParaRPr lang="en-US" sz="3200" dirty="0">
              <a:latin typeface="Times New Roman" pitchFamily="18" charset="0"/>
              <a:cs typeface="Times New Roman" pitchFamily="18" charset="0"/>
            </a:endParaRPr>
          </a:p>
        </p:txBody>
      </p:sp>
      <p:sp>
        <p:nvSpPr>
          <p:cNvPr id="3" name="Content Placeholder 2"/>
          <p:cNvSpPr>
            <a:spLocks noGrp="1"/>
          </p:cNvSpPr>
          <p:nvPr>
            <p:ph idx="1"/>
          </p:nvPr>
        </p:nvSpPr>
        <p:spPr>
          <a:xfrm>
            <a:off x="304800" y="990600"/>
            <a:ext cx="8686800" cy="5715000"/>
          </a:xfrm>
        </p:spPr>
        <p:txBody>
          <a:bodyPr>
            <a:noAutofit/>
          </a:bodyPr>
          <a:lstStyle/>
          <a:p>
            <a:pPr algn="just">
              <a:lnSpc>
                <a:spcPct val="150000"/>
              </a:lnSpc>
              <a:buNone/>
            </a:pPr>
            <a:r>
              <a:rPr lang="en-US" sz="2400" dirty="0" smtClean="0">
                <a:latin typeface="Times New Roman" pitchFamily="18" charset="0"/>
                <a:cs typeface="Times New Roman" pitchFamily="18" charset="0"/>
              </a:rPr>
              <a:t>During Literature survey following problem is identified in previous research work-</a:t>
            </a:r>
          </a:p>
          <a:p>
            <a:pPr algn="just">
              <a:lnSpc>
                <a:spcPct val="150000"/>
              </a:lnSpc>
              <a:buFont typeface="Wingdings" pitchFamily="2" charset="2"/>
              <a:buChar char="Ø"/>
            </a:pPr>
            <a:r>
              <a:rPr lang="en-US" sz="2400" dirty="0" smtClean="0">
                <a:latin typeface="Times New Roman" pitchFamily="18" charset="0"/>
                <a:cs typeface="Times New Roman" pitchFamily="18" charset="0"/>
              </a:rPr>
              <a:t>Low accuracy rate of true data prediction from given Phishing Websites dataset.</a:t>
            </a:r>
          </a:p>
          <a:p>
            <a:pPr algn="just">
              <a:lnSpc>
                <a:spcPct val="150000"/>
              </a:lnSpc>
              <a:buFont typeface="Wingdings" pitchFamily="2" charset="2"/>
              <a:buChar char="Ø"/>
            </a:pPr>
            <a:r>
              <a:rPr lang="en-US" sz="2400" dirty="0" smtClean="0">
                <a:latin typeface="Times New Roman" pitchFamily="18" charset="0"/>
                <a:cs typeface="Times New Roman" pitchFamily="18" charset="0"/>
              </a:rPr>
              <a:t>More classification error.</a:t>
            </a:r>
          </a:p>
          <a:p>
            <a:pPr algn="just">
              <a:lnSpc>
                <a:spcPct val="150000"/>
              </a:lnSpc>
              <a:buFont typeface="Wingdings" pitchFamily="2" charset="2"/>
              <a:buChar char="Ø"/>
            </a:pPr>
            <a:r>
              <a:rPr lang="en-US" sz="2400" dirty="0" smtClean="0">
                <a:latin typeface="Times New Roman" pitchFamily="18" charset="0"/>
                <a:cs typeface="Times New Roman" pitchFamily="18" charset="0"/>
              </a:rPr>
              <a:t>Low precision and F measure value. </a:t>
            </a:r>
          </a:p>
          <a:p>
            <a:pPr algn="just">
              <a:lnSpc>
                <a:spcPct val="150000"/>
              </a:lnSpc>
              <a:buFont typeface="Wingdings" pitchFamily="2" charset="2"/>
              <a:buChar char="Ø"/>
            </a:pPr>
            <a:endParaRPr lang="en-IN" sz="2400" dirty="0" smtClean="0">
              <a:latin typeface="Times New Roman" pitchFamily="18" charset="0"/>
              <a:cs typeface="Times New Roman" pitchFamily="18" charset="0"/>
            </a:endParaRPr>
          </a:p>
          <a:p>
            <a:pPr algn="just">
              <a:lnSpc>
                <a:spcPct val="150000"/>
              </a:lnSpc>
              <a:buFont typeface="Wingdings" pitchFamily="2" charset="2"/>
              <a:buChar char="Ø"/>
            </a:pPr>
            <a:endParaRPr lang="en-IN" sz="2400" dirty="0" smtClean="0">
              <a:latin typeface="Times New Roman" pitchFamily="18" charset="0"/>
              <a:cs typeface="Times New Roman" pitchFamily="18" charset="0"/>
            </a:endParaRPr>
          </a:p>
          <a:p>
            <a:pPr algn="just">
              <a:lnSpc>
                <a:spcPct val="150000"/>
              </a:lnSpc>
              <a:buFont typeface="Wingdings" pitchFamily="2" charset="2"/>
              <a:buChar char="Ø"/>
            </a:pPr>
            <a:endParaRPr lang="en-US" sz="2400" dirty="0" smtClean="0">
              <a:latin typeface="Times New Roman" pitchFamily="18" charset="0"/>
              <a:cs typeface="Times New Roman" pitchFamily="18" charset="0"/>
            </a:endParaRPr>
          </a:p>
          <a:p>
            <a:pPr algn="just">
              <a:buNone/>
            </a:pPr>
            <a:endParaRPr lang="en-US" sz="2400" dirty="0" smtClean="0"/>
          </a:p>
          <a:p>
            <a:pPr algn="just">
              <a:buNone/>
            </a:pPr>
            <a:endParaRPr lang="en-US" sz="2400" dirty="0"/>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noAutofit/>
          </a:bodyPr>
          <a:lstStyle/>
          <a:p>
            <a:r>
              <a:rPr lang="en-US" sz="3200" dirty="0" smtClean="0">
                <a:latin typeface="Times New Roman" pitchFamily="18" charset="0"/>
                <a:cs typeface="Times New Roman" pitchFamily="18" charset="0"/>
              </a:rPr>
              <a:t>OBJECTIVE</a:t>
            </a:r>
            <a:br>
              <a:rPr lang="en-US" sz="3200" dirty="0" smtClean="0">
                <a:latin typeface="Times New Roman" pitchFamily="18" charset="0"/>
                <a:cs typeface="Times New Roman" pitchFamily="18" charset="0"/>
              </a:rPr>
            </a:br>
            <a:endParaRPr lang="en-US" sz="3200" dirty="0">
              <a:latin typeface="Times New Roman" pitchFamily="18" charset="0"/>
              <a:cs typeface="Times New Roman" pitchFamily="18" charset="0"/>
            </a:endParaRPr>
          </a:p>
        </p:txBody>
      </p:sp>
      <p:sp>
        <p:nvSpPr>
          <p:cNvPr id="3" name="Content Placeholder 2"/>
          <p:cNvSpPr>
            <a:spLocks noGrp="1"/>
          </p:cNvSpPr>
          <p:nvPr>
            <p:ph idx="1"/>
          </p:nvPr>
        </p:nvSpPr>
        <p:spPr>
          <a:xfrm>
            <a:off x="228600" y="1066800"/>
            <a:ext cx="8686800" cy="5410200"/>
          </a:xfrm>
        </p:spPr>
        <p:txBody>
          <a:bodyPr>
            <a:normAutofit/>
          </a:bodyPr>
          <a:lstStyle/>
          <a:p>
            <a:pPr algn="just">
              <a:lnSpc>
                <a:spcPct val="150000"/>
              </a:lnSpc>
              <a:buNone/>
            </a:pPr>
            <a:r>
              <a:rPr lang="en-US" sz="2400" dirty="0" smtClean="0">
                <a:latin typeface="Times New Roman" pitchFamily="18" charset="0"/>
                <a:cs typeface="Times New Roman" pitchFamily="18" charset="0"/>
              </a:rPr>
              <a:t>The main objective of this work is summarized as-</a:t>
            </a:r>
          </a:p>
          <a:p>
            <a:pPr algn="just">
              <a:lnSpc>
                <a:spcPct val="150000"/>
              </a:lnSpc>
              <a:buFont typeface="Wingdings" pitchFamily="2" charset="2"/>
              <a:buChar char="Ø"/>
            </a:pPr>
            <a:r>
              <a:rPr lang="en-US" sz="2400" dirty="0" smtClean="0">
                <a:latin typeface="Times New Roman" pitchFamily="18" charset="0"/>
                <a:cs typeface="Times New Roman" pitchFamily="18" charset="0"/>
              </a:rPr>
              <a:t>To collect Phishing Websites dataset from </a:t>
            </a:r>
            <a:r>
              <a:rPr lang="en-US" sz="2400" dirty="0" err="1" smtClean="0">
                <a:latin typeface="Times New Roman" pitchFamily="18" charset="0"/>
                <a:cs typeface="Times New Roman" pitchFamily="18" charset="0"/>
              </a:rPr>
              <a:t>kaggle</a:t>
            </a:r>
            <a:r>
              <a:rPr lang="en-US" sz="2400" dirty="0" smtClean="0">
                <a:latin typeface="Times New Roman" pitchFamily="18" charset="0"/>
                <a:cs typeface="Times New Roman" pitchFamily="18" charset="0"/>
              </a:rPr>
              <a:t> machine learning repository.</a:t>
            </a:r>
          </a:p>
          <a:p>
            <a:pPr lvl="0" algn="just">
              <a:lnSpc>
                <a:spcPct val="150000"/>
              </a:lnSpc>
              <a:buFont typeface="Wingdings" pitchFamily="2" charset="2"/>
              <a:buChar char="Ø"/>
            </a:pPr>
            <a:r>
              <a:rPr lang="en-US" sz="2400" dirty="0" smtClean="0">
                <a:latin typeface="Times New Roman" pitchFamily="18" charset="0"/>
                <a:cs typeface="Times New Roman" pitchFamily="18" charset="0"/>
              </a:rPr>
              <a:t>To implement proposed approach based on artificial neural network (ANN) deep learning classification algorithm.</a:t>
            </a:r>
          </a:p>
          <a:p>
            <a:pPr algn="just">
              <a:lnSpc>
                <a:spcPct val="150000"/>
              </a:lnSpc>
              <a:buFont typeface="Wingdings" pitchFamily="2" charset="2"/>
              <a:buChar char="Ø"/>
            </a:pPr>
            <a:r>
              <a:rPr lang="en-US" sz="2400" dirty="0" smtClean="0">
                <a:latin typeface="Times New Roman" pitchFamily="18" charset="0"/>
                <a:cs typeface="Times New Roman" pitchFamily="18" charset="0"/>
              </a:rPr>
              <a:t>To use spyder python 3.7 software for simulation.</a:t>
            </a:r>
          </a:p>
          <a:p>
            <a:pPr algn="just">
              <a:lnSpc>
                <a:spcPct val="150000"/>
              </a:lnSpc>
              <a:buFont typeface="Wingdings" pitchFamily="2" charset="2"/>
              <a:buChar char="Ø"/>
            </a:pPr>
            <a:r>
              <a:rPr lang="en-US" sz="2400" dirty="0" smtClean="0">
                <a:latin typeface="Times New Roman" pitchFamily="18" charset="0"/>
                <a:cs typeface="Times New Roman" pitchFamily="18" charset="0"/>
              </a:rPr>
              <a:t>To calculate various parameters like precision, recall, f-measure and accuracy.</a:t>
            </a:r>
          </a:p>
          <a:p>
            <a:pPr algn="just">
              <a:lnSpc>
                <a:spcPct val="150000"/>
              </a:lnSpc>
              <a:buFont typeface="Wingdings" pitchFamily="2" charset="2"/>
              <a:buChar char="Ø"/>
            </a:pPr>
            <a:r>
              <a:rPr lang="en-US" sz="2400" dirty="0" smtClean="0">
                <a:latin typeface="Times New Roman" pitchFamily="18" charset="0"/>
                <a:cs typeface="Times New Roman" pitchFamily="18" charset="0"/>
              </a:rPr>
              <a:t>To generate results graph and compare from previous work. </a:t>
            </a:r>
          </a:p>
          <a:p>
            <a:pPr algn="just">
              <a:lnSpc>
                <a:spcPct val="150000"/>
              </a:lnSpc>
              <a:buFont typeface="Wingdings" pitchFamily="2" charset="2"/>
              <a:buChar char="Ø"/>
            </a:pPr>
            <a:endParaRPr lang="en-US" sz="2400" dirty="0">
              <a:latin typeface="Times New Roman" pitchFamily="18" charset="0"/>
              <a:cs typeface="Times New Roman"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p:cNvSpPr txBox="1"/>
          <p:nvPr/>
        </p:nvSpPr>
        <p:spPr>
          <a:xfrm>
            <a:off x="2895600" y="253425"/>
            <a:ext cx="3505200" cy="584775"/>
          </a:xfrm>
          <a:prstGeom prst="rect">
            <a:avLst/>
          </a:prstGeom>
          <a:noFill/>
        </p:spPr>
        <p:txBody>
          <a:bodyPr wrap="square" rtlCol="0">
            <a:spAutoFit/>
          </a:bodyPr>
          <a:lstStyle/>
          <a:p>
            <a:pPr algn="ctr"/>
            <a:r>
              <a:rPr lang="en-IN" sz="3200" dirty="0" smtClean="0">
                <a:latin typeface="Times New Roman" pitchFamily="18" charset="0"/>
                <a:cs typeface="Times New Roman" pitchFamily="18" charset="0"/>
              </a:rPr>
              <a:t>FLOW CHART</a:t>
            </a:r>
            <a:endParaRPr lang="en-US" sz="3200" dirty="0">
              <a:latin typeface="Times New Roman" pitchFamily="18" charset="0"/>
              <a:cs typeface="Times New Roman" pitchFamily="18" charset="0"/>
            </a:endParaRPr>
          </a:p>
        </p:txBody>
      </p:sp>
      <p:pic>
        <p:nvPicPr>
          <p:cNvPr id="50" name="Picture 49"/>
          <p:cNvPicPr/>
          <p:nvPr/>
        </p:nvPicPr>
        <p:blipFill>
          <a:blip r:embed="rId2" cstate="print">
            <a:lum bright="-20000" contrast="40000"/>
          </a:blip>
          <a:srcRect/>
          <a:stretch>
            <a:fillRect/>
          </a:stretch>
        </p:blipFill>
        <p:spPr bwMode="auto">
          <a:xfrm>
            <a:off x="609600" y="1371600"/>
            <a:ext cx="7848600" cy="4191000"/>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04800" y="1315045"/>
            <a:ext cx="8305800" cy="4893647"/>
          </a:xfrm>
          <a:prstGeom prst="rect">
            <a:avLst/>
          </a:prstGeom>
          <a:noFill/>
        </p:spPr>
        <p:txBody>
          <a:bodyPr wrap="square" rtlCol="0">
            <a:spAutoFit/>
          </a:bodyPr>
          <a:lstStyle/>
          <a:p>
            <a:pPr lvl="0" algn="just"/>
            <a:r>
              <a:rPr lang="en-US" sz="2400" b="1" dirty="0" smtClean="0">
                <a:latin typeface="Times New Roman" pitchFamily="18" charset="0"/>
                <a:cs typeface="Times New Roman" pitchFamily="18" charset="0"/>
              </a:rPr>
              <a:t>Collect data set </a:t>
            </a:r>
            <a:endParaRPr lang="en-US" sz="2400" dirty="0" smtClean="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For implementation of the research work, the phishing website dataset is taken from </a:t>
            </a:r>
            <a:r>
              <a:rPr lang="en-US" sz="2400" dirty="0" err="1" smtClean="0">
                <a:latin typeface="Times New Roman" pitchFamily="18" charset="0"/>
                <a:cs typeface="Times New Roman" pitchFamily="18" charset="0"/>
              </a:rPr>
              <a:t>kaggle</a:t>
            </a:r>
            <a:r>
              <a:rPr lang="en-US" sz="2400" dirty="0" smtClean="0">
                <a:latin typeface="Times New Roman" pitchFamily="18" charset="0"/>
                <a:cs typeface="Times New Roman" pitchFamily="18" charset="0"/>
              </a:rPr>
              <a:t> machine learning repository.</a:t>
            </a:r>
          </a:p>
          <a:p>
            <a:pPr algn="just"/>
            <a:endParaRPr lang="en-US" sz="2400" dirty="0" smtClean="0">
              <a:latin typeface="Times New Roman" pitchFamily="18" charset="0"/>
              <a:cs typeface="Times New Roman" pitchFamily="18" charset="0"/>
            </a:endParaRPr>
          </a:p>
          <a:p>
            <a:pPr lvl="0" algn="just"/>
            <a:r>
              <a:rPr lang="en-US" sz="2400" b="1" dirty="0" smtClean="0">
                <a:latin typeface="Times New Roman" pitchFamily="18" charset="0"/>
                <a:cs typeface="Times New Roman" pitchFamily="18" charset="0"/>
              </a:rPr>
              <a:t>Preprocess of data</a:t>
            </a:r>
            <a:endParaRPr lang="en-US" sz="2400" dirty="0" smtClean="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Data pre-processing involves converting any string variable to the numerical one so that it gets easy for evaluation. Also handle missing and null values.</a:t>
            </a:r>
          </a:p>
          <a:p>
            <a:pPr algn="just"/>
            <a:endParaRPr lang="en-US" sz="2400" dirty="0" smtClean="0">
              <a:latin typeface="Times New Roman" pitchFamily="18" charset="0"/>
              <a:cs typeface="Times New Roman" pitchFamily="18" charset="0"/>
            </a:endParaRPr>
          </a:p>
          <a:p>
            <a:pPr lvl="0" algn="just"/>
            <a:r>
              <a:rPr lang="en-US" sz="2400" b="1" dirty="0" smtClean="0">
                <a:latin typeface="Times New Roman" pitchFamily="18" charset="0"/>
                <a:cs typeface="Times New Roman" pitchFamily="18" charset="0"/>
              </a:rPr>
              <a:t>Feature Extraction</a:t>
            </a:r>
            <a:endParaRPr lang="en-US" sz="2400" dirty="0" smtClean="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Feature extraction is a process of dimensionality reduction by which an initial set of raw data is reduced to more manageable groups for processing. </a:t>
            </a:r>
            <a:endParaRPr lang="en-US" sz="2400" dirty="0">
              <a:latin typeface="Times New Roman" pitchFamily="18" charset="0"/>
              <a:cs typeface="Times New Roman" pitchFamily="18" charset="0"/>
            </a:endParaRPr>
          </a:p>
        </p:txBody>
      </p:sp>
      <p:sp>
        <p:nvSpPr>
          <p:cNvPr id="3" name="Title 3"/>
          <p:cNvSpPr>
            <a:spLocks noGrp="1"/>
          </p:cNvSpPr>
          <p:nvPr>
            <p:ph type="title"/>
          </p:nvPr>
        </p:nvSpPr>
        <p:spPr>
          <a:xfrm>
            <a:off x="457200" y="533400"/>
            <a:ext cx="8229600" cy="609600"/>
          </a:xfrm>
        </p:spPr>
        <p:txBody>
          <a:bodyPr>
            <a:noAutofit/>
          </a:bodyPr>
          <a:lstStyle/>
          <a:p>
            <a:r>
              <a:rPr lang="en-US" sz="3200" dirty="0" smtClean="0">
                <a:solidFill>
                  <a:srgbClr val="000000"/>
                </a:solidFill>
                <a:latin typeface="Times New Roman" pitchFamily="18" charset="0"/>
                <a:cs typeface="Times New Roman" pitchFamily="18" charset="0"/>
              </a:rPr>
              <a:t>METHODOLOGY</a:t>
            </a:r>
            <a:br>
              <a:rPr lang="en-US" sz="3200" dirty="0" smtClean="0">
                <a:solidFill>
                  <a:srgbClr val="000000"/>
                </a:solidFill>
                <a:latin typeface="Times New Roman" pitchFamily="18" charset="0"/>
                <a:cs typeface="Times New Roman" pitchFamily="18" charset="0"/>
              </a:rPr>
            </a:br>
            <a:endParaRPr lang="en-US" sz="3200" dirty="0">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04800" y="628739"/>
            <a:ext cx="8305800" cy="5078313"/>
          </a:xfrm>
          <a:prstGeom prst="rect">
            <a:avLst/>
          </a:prstGeom>
          <a:noFill/>
        </p:spPr>
        <p:txBody>
          <a:bodyPr wrap="square" rtlCol="0">
            <a:spAutoFit/>
          </a:bodyPr>
          <a:lstStyle/>
          <a:p>
            <a:pPr lvl="0" algn="just">
              <a:lnSpc>
                <a:spcPct val="150000"/>
              </a:lnSpc>
            </a:pPr>
            <a:r>
              <a:rPr lang="en-US" sz="2400" b="1" dirty="0" smtClean="0">
                <a:latin typeface="Times New Roman" pitchFamily="18" charset="0"/>
                <a:cs typeface="Times New Roman" pitchFamily="18" charset="0"/>
              </a:rPr>
              <a:t>Classification</a:t>
            </a:r>
          </a:p>
          <a:p>
            <a:pPr algn="just">
              <a:lnSpc>
                <a:spcPct val="150000"/>
              </a:lnSpc>
            </a:pPr>
            <a:r>
              <a:rPr lang="en-IN" sz="2400" dirty="0" smtClean="0">
                <a:latin typeface="Times New Roman" pitchFamily="18" charset="0"/>
                <a:cs typeface="Times New Roman" pitchFamily="18" charset="0"/>
              </a:rPr>
              <a:t>The </a:t>
            </a:r>
            <a:r>
              <a:rPr lang="en-US" sz="2400" dirty="0" smtClean="0">
                <a:latin typeface="Times New Roman" pitchFamily="18" charset="0"/>
                <a:cs typeface="Times New Roman" pitchFamily="18" charset="0"/>
              </a:rPr>
              <a:t>artificial neural network (ANN) </a:t>
            </a:r>
            <a:r>
              <a:rPr lang="en-IN" sz="2400" dirty="0" smtClean="0">
                <a:latin typeface="Times New Roman" pitchFamily="18" charset="0"/>
                <a:cs typeface="Times New Roman" pitchFamily="18" charset="0"/>
              </a:rPr>
              <a:t>classification algorithm to predict the </a:t>
            </a:r>
            <a:r>
              <a:rPr lang="en-US" sz="2400" dirty="0" smtClean="0">
                <a:latin typeface="Times New Roman" pitchFamily="18" charset="0"/>
                <a:cs typeface="Times New Roman" pitchFamily="18" charset="0"/>
              </a:rPr>
              <a:t>phishing website prediction.</a:t>
            </a:r>
          </a:p>
          <a:p>
            <a:pPr lvl="0" algn="just">
              <a:lnSpc>
                <a:spcPct val="150000"/>
              </a:lnSpc>
            </a:pPr>
            <a:endParaRPr lang="en-US" sz="2400" dirty="0" smtClean="0">
              <a:latin typeface="Times New Roman" pitchFamily="18" charset="0"/>
              <a:cs typeface="Times New Roman" pitchFamily="18" charset="0"/>
            </a:endParaRPr>
          </a:p>
          <a:p>
            <a:pPr lvl="0" algn="just">
              <a:lnSpc>
                <a:spcPct val="150000"/>
              </a:lnSpc>
              <a:buFont typeface="Arial" pitchFamily="34" charset="0"/>
              <a:buChar char="•"/>
            </a:pPr>
            <a:r>
              <a:rPr lang="en-US" sz="2400" dirty="0" smtClean="0">
                <a:latin typeface="Times New Roman" pitchFamily="18" charset="0"/>
                <a:cs typeface="Times New Roman" pitchFamily="18" charset="0"/>
              </a:rPr>
              <a:t>Simulation is done using Python Software</a:t>
            </a:r>
          </a:p>
          <a:p>
            <a:pPr lvl="0" algn="just">
              <a:lnSpc>
                <a:spcPct val="150000"/>
              </a:lnSpc>
              <a:buFont typeface="Arial" pitchFamily="34" charset="0"/>
              <a:buChar char="•"/>
            </a:pPr>
            <a:r>
              <a:rPr lang="en-IN" sz="2400" dirty="0" smtClean="0">
                <a:latin typeface="Times New Roman" pitchFamily="18" charset="0"/>
                <a:cs typeface="Times New Roman" pitchFamily="18" charset="0"/>
              </a:rPr>
              <a:t>Python is open source software having large library of AI, machine learning etc work.</a:t>
            </a:r>
          </a:p>
          <a:p>
            <a:pPr lvl="0" algn="just">
              <a:lnSpc>
                <a:spcPct val="150000"/>
              </a:lnSpc>
              <a:buFont typeface="Arial" pitchFamily="34" charset="0"/>
              <a:buChar char="•"/>
            </a:pPr>
            <a:r>
              <a:rPr lang="en-IN" sz="2400" dirty="0" smtClean="0">
                <a:latin typeface="Times New Roman" pitchFamily="18" charset="0"/>
                <a:cs typeface="Times New Roman" pitchFamily="18" charset="0"/>
              </a:rPr>
              <a:t>The </a:t>
            </a:r>
            <a:r>
              <a:rPr lang="en-IN" sz="2400" dirty="0" err="1" smtClean="0">
                <a:latin typeface="Times New Roman" pitchFamily="18" charset="0"/>
                <a:cs typeface="Times New Roman" pitchFamily="18" charset="0"/>
              </a:rPr>
              <a:t>spyder</a:t>
            </a:r>
            <a:r>
              <a:rPr lang="en-IN" sz="2400" dirty="0" smtClean="0">
                <a:latin typeface="Times New Roman" pitchFamily="18" charset="0"/>
                <a:cs typeface="Times New Roman" pitchFamily="18" charset="0"/>
              </a:rPr>
              <a:t> IDE is platform using by the python for the implementation and simulation of the proposed concept.</a:t>
            </a:r>
          </a:p>
        </p:txBody>
      </p:sp>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76200"/>
            <a:ext cx="8229600" cy="792162"/>
          </a:xfrm>
        </p:spPr>
        <p:txBody>
          <a:bodyPr>
            <a:normAutofit/>
          </a:bodyPr>
          <a:lstStyle/>
          <a:p>
            <a:r>
              <a:rPr lang="en-US" sz="2800" dirty="0" smtClean="0">
                <a:latin typeface="Times New Roman" pitchFamily="18" charset="0"/>
                <a:cs typeface="Times New Roman" pitchFamily="18" charset="0"/>
              </a:rPr>
              <a:t>Artificial Neural Network (ANN)</a:t>
            </a:r>
            <a:endParaRPr lang="en-US" sz="2800" dirty="0">
              <a:latin typeface="Times New Roman" pitchFamily="18" charset="0"/>
              <a:cs typeface="Times New Roman" pitchFamily="18" charset="0"/>
            </a:endParaRPr>
          </a:p>
        </p:txBody>
      </p:sp>
      <p:sp>
        <p:nvSpPr>
          <p:cNvPr id="3" name="Content Placeholder 2"/>
          <p:cNvSpPr>
            <a:spLocks noGrp="1"/>
          </p:cNvSpPr>
          <p:nvPr>
            <p:ph idx="1"/>
          </p:nvPr>
        </p:nvSpPr>
        <p:spPr>
          <a:xfrm>
            <a:off x="228600" y="914400"/>
            <a:ext cx="8610600" cy="5334000"/>
          </a:xfrm>
        </p:spPr>
        <p:txBody>
          <a:bodyPr>
            <a:noAutofit/>
          </a:bodyPr>
          <a:lstStyle/>
          <a:p>
            <a:pPr algn="just">
              <a:lnSpc>
                <a:spcPct val="150000"/>
              </a:lnSpc>
              <a:buFont typeface="Wingdings" pitchFamily="2" charset="2"/>
              <a:buChar char="Ø"/>
            </a:pPr>
            <a:r>
              <a:rPr lang="en-US" sz="2200" dirty="0" smtClean="0">
                <a:latin typeface="Times New Roman" pitchFamily="18" charset="0"/>
                <a:cs typeface="Times New Roman" pitchFamily="18" charset="0"/>
              </a:rPr>
              <a:t>The activation signal is passed through a transfer function to produce a single output of a neuron.</a:t>
            </a:r>
          </a:p>
          <a:p>
            <a:pPr algn="just">
              <a:lnSpc>
                <a:spcPct val="150000"/>
              </a:lnSpc>
              <a:buFont typeface="Wingdings" pitchFamily="2" charset="2"/>
              <a:buChar char="Ø"/>
            </a:pPr>
            <a:r>
              <a:rPr lang="en-US" sz="2200" dirty="0" smtClean="0">
                <a:latin typeface="Times New Roman" pitchFamily="18" charset="0"/>
                <a:cs typeface="Times New Roman" pitchFamily="18" charset="0"/>
              </a:rPr>
              <a:t>In this model, ANN is applied to </a:t>
            </a:r>
            <a:r>
              <a:rPr lang="en-US" sz="2200" dirty="0" smtClean="0">
                <a:latin typeface="Times New Roman" pitchFamily="18" charset="0"/>
                <a:cs typeface="Times New Roman" pitchFamily="18" charset="0"/>
              </a:rPr>
              <a:t>classification </a:t>
            </a:r>
            <a:r>
              <a:rPr lang="en-US" sz="2200" dirty="0" smtClean="0">
                <a:latin typeface="Times New Roman" pitchFamily="18" charset="0"/>
                <a:cs typeface="Times New Roman" pitchFamily="18" charset="0"/>
              </a:rPr>
              <a:t>prediction </a:t>
            </a:r>
            <a:r>
              <a:rPr lang="en-US" sz="2200" dirty="0" smtClean="0">
                <a:latin typeface="Times New Roman" pitchFamily="18" charset="0"/>
                <a:cs typeface="Times New Roman" pitchFamily="18" charset="0"/>
              </a:rPr>
              <a:t>of </a:t>
            </a:r>
            <a:r>
              <a:rPr lang="en-US" sz="2200" dirty="0" smtClean="0">
                <a:latin typeface="Times New Roman" pitchFamily="18" charset="0"/>
                <a:cs typeface="Times New Roman" pitchFamily="18" charset="0"/>
              </a:rPr>
              <a:t>Phishing Websites</a:t>
            </a:r>
            <a:r>
              <a:rPr lang="en-US" sz="2200" dirty="0" smtClean="0">
                <a:latin typeface="Times New Roman" pitchFamily="18" charset="0"/>
                <a:cs typeface="Times New Roman" pitchFamily="18" charset="0"/>
              </a:rPr>
              <a:t>.</a:t>
            </a:r>
            <a:endParaRPr lang="en-US" sz="2200" dirty="0" smtClean="0">
              <a:latin typeface="Times New Roman" pitchFamily="18" charset="0"/>
              <a:cs typeface="Times New Roman" pitchFamily="18" charset="0"/>
            </a:endParaRPr>
          </a:p>
          <a:p>
            <a:pPr algn="just">
              <a:lnSpc>
                <a:spcPct val="150000"/>
              </a:lnSpc>
              <a:buFont typeface="Wingdings" pitchFamily="2" charset="2"/>
              <a:buChar char="Ø"/>
            </a:pPr>
            <a:r>
              <a:rPr lang="en-US" sz="2200" dirty="0" smtClean="0">
                <a:latin typeface="Times New Roman" pitchFamily="18" charset="0"/>
                <a:cs typeface="Times New Roman" pitchFamily="18" charset="0"/>
              </a:rPr>
              <a:t>The output layer consists of only one neuron. </a:t>
            </a:r>
          </a:p>
          <a:p>
            <a:pPr algn="just">
              <a:lnSpc>
                <a:spcPct val="150000"/>
              </a:lnSpc>
              <a:buFont typeface="Wingdings" pitchFamily="2" charset="2"/>
              <a:buChar char="Ø"/>
            </a:pPr>
            <a:r>
              <a:rPr lang="en-US" sz="2200" dirty="0" smtClean="0">
                <a:latin typeface="Times New Roman" pitchFamily="18" charset="0"/>
                <a:cs typeface="Times New Roman" pitchFamily="18" charset="0"/>
              </a:rPr>
              <a:t>The ANN considers local features of a given problem for extracting important information for prediction. </a:t>
            </a:r>
          </a:p>
          <a:p>
            <a:pPr algn="just">
              <a:lnSpc>
                <a:spcPct val="150000"/>
              </a:lnSpc>
              <a:buFont typeface="Wingdings" pitchFamily="2" charset="2"/>
              <a:buChar char="Ø"/>
            </a:pPr>
            <a:r>
              <a:rPr lang="en-US" sz="2200" dirty="0" smtClean="0">
                <a:latin typeface="Times New Roman" pitchFamily="18" charset="0"/>
                <a:cs typeface="Times New Roman" pitchFamily="18" charset="0"/>
              </a:rPr>
              <a:t>Thus, in case of </a:t>
            </a:r>
            <a:r>
              <a:rPr lang="en-US" sz="2200" dirty="0" smtClean="0">
                <a:latin typeface="Times New Roman" pitchFamily="18" charset="0"/>
                <a:cs typeface="Times New Roman" pitchFamily="18" charset="0"/>
              </a:rPr>
              <a:t>Phishing w</a:t>
            </a:r>
            <a:r>
              <a:rPr lang="en-US" sz="2200" dirty="0" smtClean="0">
                <a:latin typeface="Times New Roman" pitchFamily="18" charset="0"/>
                <a:cs typeface="Times New Roman" pitchFamily="18" charset="0"/>
              </a:rPr>
              <a:t>ebsites </a:t>
            </a:r>
            <a:r>
              <a:rPr lang="en-US" sz="2200" dirty="0" smtClean="0">
                <a:latin typeface="Times New Roman" pitchFamily="18" charset="0"/>
                <a:cs typeface="Times New Roman" pitchFamily="18" charset="0"/>
              </a:rPr>
              <a:t>prediction</a:t>
            </a:r>
            <a:r>
              <a:rPr lang="en-US" sz="2200" dirty="0" smtClean="0">
                <a:latin typeface="Times New Roman" pitchFamily="18" charset="0"/>
                <a:cs typeface="Times New Roman" pitchFamily="18" charset="0"/>
              </a:rPr>
              <a:t>, it receives </a:t>
            </a:r>
            <a:r>
              <a:rPr lang="en-US" sz="2200" dirty="0" smtClean="0">
                <a:latin typeface="Times New Roman" pitchFamily="18" charset="0"/>
                <a:cs typeface="Times New Roman" pitchFamily="18" charset="0"/>
              </a:rPr>
              <a:t>different features like domain, server, protocol, URL, DNS etc.</a:t>
            </a:r>
            <a:endParaRPr lang="en-US" sz="2200" dirty="0" smtClean="0">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639762"/>
          </a:xfrm>
        </p:spPr>
        <p:txBody>
          <a:bodyPr>
            <a:normAutofit/>
          </a:bodyPr>
          <a:lstStyle/>
          <a:p>
            <a:r>
              <a:rPr lang="en-IN" sz="2800" b="1" i="1" u="sng" dirty="0" smtClean="0">
                <a:latin typeface="Times New Roman" pitchFamily="18" charset="0"/>
                <a:cs typeface="Times New Roman" pitchFamily="18" charset="0"/>
              </a:rPr>
              <a:t>Parameters Calculation</a:t>
            </a:r>
            <a:endParaRPr lang="en-US" sz="2800" b="1" i="1" u="sng" dirty="0">
              <a:latin typeface="Times New Roman" pitchFamily="18" charset="0"/>
              <a:cs typeface="Times New Roman" pitchFamily="18" charset="0"/>
            </a:endParaRPr>
          </a:p>
        </p:txBody>
      </p:sp>
      <p:sp>
        <p:nvSpPr>
          <p:cNvPr id="3" name="Content Placeholder 2"/>
          <p:cNvSpPr>
            <a:spLocks noGrp="1"/>
          </p:cNvSpPr>
          <p:nvPr>
            <p:ph idx="1"/>
          </p:nvPr>
        </p:nvSpPr>
        <p:spPr>
          <a:xfrm>
            <a:off x="304800" y="762000"/>
            <a:ext cx="8458200" cy="5562600"/>
          </a:xfrm>
        </p:spPr>
        <p:txBody>
          <a:bodyPr>
            <a:noAutofit/>
          </a:bodyPr>
          <a:lstStyle/>
          <a:p>
            <a:pPr lvl="0" algn="just">
              <a:lnSpc>
                <a:spcPct val="150000"/>
              </a:lnSpc>
              <a:buNone/>
            </a:pPr>
            <a:r>
              <a:rPr lang="en-US" sz="2200" b="1" dirty="0" smtClean="0">
                <a:latin typeface="Times New Roman" pitchFamily="18" charset="0"/>
                <a:cs typeface="Times New Roman" pitchFamily="18" charset="0"/>
              </a:rPr>
              <a:t>Confusion Matrix- </a:t>
            </a:r>
            <a:r>
              <a:rPr lang="en-US" sz="2200" dirty="0" smtClean="0">
                <a:latin typeface="Times New Roman" pitchFamily="18" charset="0"/>
                <a:cs typeface="Times New Roman" pitchFamily="18" charset="0"/>
              </a:rPr>
              <a:t>A confusion matrix is a table that is used to describe the performance of a classification model (or "classifier“). </a:t>
            </a:r>
          </a:p>
          <a:p>
            <a:pPr lvl="0" algn="just">
              <a:lnSpc>
                <a:spcPct val="150000"/>
              </a:lnSpc>
            </a:pPr>
            <a:r>
              <a:rPr lang="en-US" sz="2200" b="1" dirty="0" smtClean="0">
                <a:latin typeface="Times New Roman" pitchFamily="18" charset="0"/>
                <a:cs typeface="Times New Roman" pitchFamily="18" charset="0"/>
              </a:rPr>
              <a:t>True Positive (TP): </a:t>
            </a:r>
            <a:r>
              <a:rPr lang="en-US" sz="2200" dirty="0" smtClean="0">
                <a:latin typeface="Times New Roman" pitchFamily="18" charset="0"/>
                <a:cs typeface="Times New Roman" pitchFamily="18" charset="0"/>
              </a:rPr>
              <a:t>Predicted values correctly predicted as actual positive</a:t>
            </a:r>
          </a:p>
          <a:p>
            <a:pPr lvl="0" algn="just">
              <a:lnSpc>
                <a:spcPct val="150000"/>
              </a:lnSpc>
            </a:pPr>
            <a:r>
              <a:rPr lang="en-US" sz="2200" b="1" dirty="0" smtClean="0">
                <a:latin typeface="Times New Roman" pitchFamily="18" charset="0"/>
                <a:cs typeface="Times New Roman" pitchFamily="18" charset="0"/>
              </a:rPr>
              <a:t>False Positive (FP) </a:t>
            </a:r>
            <a:r>
              <a:rPr lang="en-US" sz="2200" dirty="0" smtClean="0">
                <a:latin typeface="Times New Roman" pitchFamily="18" charset="0"/>
                <a:cs typeface="Times New Roman" pitchFamily="18" charset="0"/>
              </a:rPr>
              <a:t>: Predicted values incorrectly predicted an actual positive. i.e., Negative values predicted as positive</a:t>
            </a:r>
          </a:p>
          <a:p>
            <a:pPr lvl="0" algn="just">
              <a:lnSpc>
                <a:spcPct val="150000"/>
              </a:lnSpc>
            </a:pPr>
            <a:r>
              <a:rPr lang="en-US" sz="2200" b="1" dirty="0" smtClean="0">
                <a:latin typeface="Times New Roman" pitchFamily="18" charset="0"/>
                <a:cs typeface="Times New Roman" pitchFamily="18" charset="0"/>
              </a:rPr>
              <a:t>False Negative (FN): </a:t>
            </a:r>
            <a:r>
              <a:rPr lang="en-US" sz="2200" dirty="0" smtClean="0">
                <a:latin typeface="Times New Roman" pitchFamily="18" charset="0"/>
                <a:cs typeface="Times New Roman" pitchFamily="18" charset="0"/>
              </a:rPr>
              <a:t>Positive values predicted as negative</a:t>
            </a:r>
          </a:p>
          <a:p>
            <a:pPr lvl="0" algn="just">
              <a:lnSpc>
                <a:spcPct val="150000"/>
              </a:lnSpc>
            </a:pPr>
            <a:r>
              <a:rPr lang="en-US" sz="2200" b="1" dirty="0" smtClean="0">
                <a:latin typeface="Times New Roman" pitchFamily="18" charset="0"/>
                <a:cs typeface="Times New Roman" pitchFamily="18" charset="0"/>
              </a:rPr>
              <a:t>True Negative (TN): </a:t>
            </a:r>
            <a:r>
              <a:rPr lang="en-US" sz="2200" dirty="0" smtClean="0">
                <a:latin typeface="Times New Roman" pitchFamily="18" charset="0"/>
                <a:cs typeface="Times New Roman" pitchFamily="18" charset="0"/>
              </a:rPr>
              <a:t>Predicted values correctly predicted as an actual negative</a:t>
            </a:r>
          </a:p>
          <a:p>
            <a:pPr>
              <a:lnSpc>
                <a:spcPct val="150000"/>
              </a:lnSpc>
            </a:pPr>
            <a:endParaRPr lang="en-US" sz="2200" dirty="0">
              <a:latin typeface="Times New Roman" pitchFamily="18" charset="0"/>
              <a:cs typeface="Times New Roman" pitchFamily="18" charset="0"/>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639762"/>
          </a:xfrm>
        </p:spPr>
        <p:txBody>
          <a:bodyPr>
            <a:normAutofit/>
          </a:bodyPr>
          <a:lstStyle/>
          <a:p>
            <a:r>
              <a:rPr lang="en-IN" sz="2800" b="1" i="1" u="sng" dirty="0" smtClean="0">
                <a:latin typeface="Times New Roman" pitchFamily="18" charset="0"/>
                <a:cs typeface="Times New Roman" pitchFamily="18" charset="0"/>
              </a:rPr>
              <a:t>Parameters Calculation</a:t>
            </a:r>
            <a:endParaRPr lang="en-US" sz="2800" b="1" i="1" u="sng" dirty="0">
              <a:latin typeface="Times New Roman" pitchFamily="18" charset="0"/>
              <a:cs typeface="Times New Roman" pitchFamily="18" charset="0"/>
            </a:endParaRPr>
          </a:p>
        </p:txBody>
      </p:sp>
      <p:sp>
        <p:nvSpPr>
          <p:cNvPr id="3" name="Content Placeholder 2"/>
          <p:cNvSpPr>
            <a:spLocks noGrp="1"/>
          </p:cNvSpPr>
          <p:nvPr>
            <p:ph idx="1"/>
          </p:nvPr>
        </p:nvSpPr>
        <p:spPr>
          <a:xfrm>
            <a:off x="304800" y="838200"/>
            <a:ext cx="8458200" cy="5562600"/>
          </a:xfrm>
        </p:spPr>
        <p:txBody>
          <a:bodyPr>
            <a:noAutofit/>
          </a:bodyPr>
          <a:lstStyle/>
          <a:p>
            <a:pPr algn="just">
              <a:lnSpc>
                <a:spcPct val="150000"/>
              </a:lnSpc>
              <a:buNone/>
            </a:pPr>
            <a:r>
              <a:rPr lang="en-US" sz="2200" b="1" u="sng" dirty="0" smtClean="0">
                <a:latin typeface="Times New Roman" pitchFamily="18" charset="0"/>
                <a:cs typeface="Times New Roman" pitchFamily="18" charset="0"/>
              </a:rPr>
              <a:t>Precision</a:t>
            </a:r>
          </a:p>
          <a:p>
            <a:pPr marL="92075" indent="3175" algn="just">
              <a:lnSpc>
                <a:spcPct val="150000"/>
              </a:lnSpc>
              <a:buNone/>
            </a:pPr>
            <a:r>
              <a:rPr lang="en-US" sz="2200" dirty="0" smtClean="0">
                <a:latin typeface="Times New Roman" pitchFamily="18" charset="0"/>
                <a:cs typeface="Times New Roman" pitchFamily="18" charset="0"/>
              </a:rPr>
              <a:t>Precision is the ability of a model to correctly identify the instances of a particular class.</a:t>
            </a:r>
          </a:p>
          <a:p>
            <a:pPr algn="just">
              <a:lnSpc>
                <a:spcPct val="150000"/>
              </a:lnSpc>
              <a:buNone/>
            </a:pPr>
            <a:r>
              <a:rPr lang="en-IN" sz="2200" dirty="0" smtClean="0">
                <a:latin typeface="Times New Roman" pitchFamily="18" charset="0"/>
                <a:cs typeface="Times New Roman" pitchFamily="18" charset="0"/>
              </a:rPr>
              <a:t>                Precision = True Positive/(True Positive + False Positive)</a:t>
            </a:r>
          </a:p>
          <a:p>
            <a:pPr algn="just">
              <a:lnSpc>
                <a:spcPct val="150000"/>
              </a:lnSpc>
              <a:buNone/>
            </a:pPr>
            <a:r>
              <a:rPr lang="en-US" sz="2200" b="1" u="sng" dirty="0" smtClean="0">
                <a:latin typeface="Times New Roman" pitchFamily="18" charset="0"/>
                <a:cs typeface="Times New Roman" pitchFamily="18" charset="0"/>
              </a:rPr>
              <a:t>Recall</a:t>
            </a:r>
          </a:p>
          <a:p>
            <a:pPr marL="92075" indent="3175" algn="just">
              <a:lnSpc>
                <a:spcPct val="150000"/>
              </a:lnSpc>
              <a:buNone/>
            </a:pPr>
            <a:r>
              <a:rPr lang="en-US" sz="2200" dirty="0" smtClean="0">
                <a:latin typeface="Times New Roman" pitchFamily="18" charset="0"/>
                <a:cs typeface="Times New Roman" pitchFamily="18" charset="0"/>
              </a:rPr>
              <a:t>Recall is the ability of a model to identify all the instances of a particular class.</a:t>
            </a:r>
          </a:p>
          <a:p>
            <a:pPr algn="just">
              <a:lnSpc>
                <a:spcPct val="150000"/>
              </a:lnSpc>
              <a:buNone/>
            </a:pPr>
            <a:r>
              <a:rPr lang="en-IN" sz="2200" dirty="0" smtClean="0">
                <a:latin typeface="Times New Roman" pitchFamily="18" charset="0"/>
                <a:cs typeface="Times New Roman" pitchFamily="18" charset="0"/>
              </a:rPr>
              <a:t>                Recall = True Positive/(True Positive + False Negative)</a:t>
            </a:r>
          </a:p>
          <a:p>
            <a:pPr algn="just">
              <a:lnSpc>
                <a:spcPct val="150000"/>
              </a:lnSpc>
              <a:buNone/>
            </a:pPr>
            <a:r>
              <a:rPr lang="en-US" sz="2200" dirty="0" smtClean="0">
                <a:latin typeface="Times New Roman" pitchFamily="18" charset="0"/>
                <a:cs typeface="Times New Roman" pitchFamily="18" charset="0"/>
              </a:rPr>
              <a:t>Recall is also known as sensitivity.</a:t>
            </a:r>
          </a:p>
          <a:p>
            <a:pPr algn="just">
              <a:lnSpc>
                <a:spcPct val="150000"/>
              </a:lnSpc>
              <a:buNone/>
            </a:pPr>
            <a:endParaRPr lang="en-IN" sz="2200" dirty="0" smtClean="0">
              <a:latin typeface="Times New Roman" pitchFamily="18" charset="0"/>
              <a:cs typeface="Times New Roman" pitchFamily="18" charset="0"/>
            </a:endParaRPr>
          </a:p>
          <a:p>
            <a:pPr algn="just">
              <a:lnSpc>
                <a:spcPct val="150000"/>
              </a:lnSpc>
              <a:buNone/>
            </a:pPr>
            <a:endParaRPr lang="en-IN" sz="2200" dirty="0" smtClean="0">
              <a:latin typeface="Times New Roman" pitchFamily="18" charset="0"/>
              <a:cs typeface="Times New Roman" pitchFamily="18" charset="0"/>
            </a:endParaRPr>
          </a:p>
          <a:p>
            <a:pPr lvl="0" algn="just">
              <a:lnSpc>
                <a:spcPct val="150000"/>
              </a:lnSpc>
              <a:buNone/>
            </a:pPr>
            <a:endParaRPr lang="en-US" sz="2200" b="1" dirty="0" smtClean="0">
              <a:latin typeface="Times New Roman" pitchFamily="18" charset="0"/>
              <a:cs typeface="Times New Roman" pitchFamily="18" charset="0"/>
            </a:endParaRPr>
          </a:p>
          <a:p>
            <a:pPr>
              <a:lnSpc>
                <a:spcPct val="150000"/>
              </a:lnSpc>
            </a:pPr>
            <a:endParaRPr lang="en-US" sz="2200" dirty="0">
              <a:latin typeface="Times New Roman" pitchFamily="18" charset="0"/>
              <a:cs typeface="Times New Roman" pitchFamily="18" charset="0"/>
            </a:endParaRPr>
          </a:p>
        </p:txBody>
      </p:sp>
      <p:sp>
        <p:nvSpPr>
          <p:cNvPr id="102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39762"/>
          </a:xfrm>
        </p:spPr>
        <p:txBody>
          <a:bodyPr>
            <a:normAutofit/>
          </a:bodyPr>
          <a:lstStyle/>
          <a:p>
            <a:r>
              <a:rPr lang="en-IN" sz="2800" b="1" i="1" u="sng" dirty="0" smtClean="0">
                <a:latin typeface="Times New Roman" pitchFamily="18" charset="0"/>
                <a:cs typeface="Times New Roman" pitchFamily="18" charset="0"/>
              </a:rPr>
              <a:t>Parameters Calculation</a:t>
            </a:r>
            <a:endParaRPr lang="en-US" sz="2800" b="1" i="1" u="sng" dirty="0">
              <a:latin typeface="Times New Roman" pitchFamily="18" charset="0"/>
              <a:cs typeface="Times New Roman" pitchFamily="18" charset="0"/>
            </a:endParaRPr>
          </a:p>
        </p:txBody>
      </p:sp>
      <p:sp>
        <p:nvSpPr>
          <p:cNvPr id="3" name="Content Placeholder 2"/>
          <p:cNvSpPr>
            <a:spLocks noGrp="1"/>
          </p:cNvSpPr>
          <p:nvPr>
            <p:ph idx="1"/>
          </p:nvPr>
        </p:nvSpPr>
        <p:spPr>
          <a:xfrm>
            <a:off x="76200" y="457200"/>
            <a:ext cx="9067800" cy="5562600"/>
          </a:xfrm>
        </p:spPr>
        <p:txBody>
          <a:bodyPr>
            <a:noAutofit/>
          </a:bodyPr>
          <a:lstStyle/>
          <a:p>
            <a:pPr lvl="0" algn="just">
              <a:lnSpc>
                <a:spcPct val="150000"/>
              </a:lnSpc>
              <a:buNone/>
            </a:pPr>
            <a:r>
              <a:rPr lang="en-US" sz="2200" b="1" u="sng" dirty="0" smtClean="0">
                <a:latin typeface="Times New Roman" pitchFamily="18" charset="0"/>
                <a:cs typeface="Times New Roman" pitchFamily="18" charset="0"/>
              </a:rPr>
              <a:t>F1-score </a:t>
            </a:r>
          </a:p>
          <a:p>
            <a:pPr lvl="0" algn="just">
              <a:lnSpc>
                <a:spcPct val="150000"/>
              </a:lnSpc>
              <a:buNone/>
            </a:pPr>
            <a:r>
              <a:rPr lang="en-US" sz="2200" dirty="0" smtClean="0">
                <a:latin typeface="Times New Roman" pitchFamily="18" charset="0"/>
                <a:cs typeface="Times New Roman" pitchFamily="18" charset="0"/>
              </a:rPr>
              <a:t>The F1-score is a performance metric in machine learning that combines precision and recall into a single score. It is the harmonic mean of precision and recall, and it provides a balance between the two metrics. </a:t>
            </a:r>
          </a:p>
          <a:p>
            <a:pPr algn="ctr">
              <a:lnSpc>
                <a:spcPct val="150000"/>
              </a:lnSpc>
              <a:buNone/>
            </a:pPr>
            <a:r>
              <a:rPr lang="en-US" sz="2200" b="1" dirty="0" smtClean="0">
                <a:latin typeface="Times New Roman" pitchFamily="18" charset="0"/>
                <a:cs typeface="Times New Roman" pitchFamily="18" charset="0"/>
              </a:rPr>
              <a:t>	 </a:t>
            </a:r>
            <a:r>
              <a:rPr lang="en-US" sz="2200" dirty="0" smtClean="0">
                <a:latin typeface="Times New Roman" pitchFamily="18" charset="0"/>
                <a:cs typeface="Times New Roman" pitchFamily="18" charset="0"/>
              </a:rPr>
              <a:t>F1-Score = 2x (Precision x Recall)/(Precision + Recall)</a:t>
            </a:r>
            <a:endParaRPr lang="en-IN" sz="2000" dirty="0" smtClean="0">
              <a:latin typeface="Times New Roman" pitchFamily="18" charset="0"/>
              <a:cs typeface="Times New Roman" pitchFamily="18" charset="0"/>
            </a:endParaRPr>
          </a:p>
          <a:p>
            <a:pPr algn="just">
              <a:lnSpc>
                <a:spcPct val="150000"/>
              </a:lnSpc>
              <a:buNone/>
            </a:pPr>
            <a:r>
              <a:rPr lang="en-US" sz="2200" b="1" u="sng" dirty="0" smtClean="0">
                <a:latin typeface="Times New Roman" pitchFamily="18" charset="0"/>
                <a:cs typeface="Times New Roman" pitchFamily="18" charset="0"/>
              </a:rPr>
              <a:t>Accuracy </a:t>
            </a:r>
          </a:p>
          <a:p>
            <a:pPr algn="just">
              <a:lnSpc>
                <a:spcPct val="150000"/>
              </a:lnSpc>
              <a:buNone/>
            </a:pPr>
            <a:r>
              <a:rPr lang="en-US" sz="2200" dirty="0" smtClean="0">
                <a:latin typeface="Times New Roman" pitchFamily="18" charset="0"/>
                <a:cs typeface="Times New Roman" pitchFamily="18" charset="0"/>
              </a:rPr>
              <a:t>Accuracy is a performance metric in machine learning that measures the proportion of correct predictions made by a model among all the predictions made. It is a simple and commonly used metric that provides a general idea of how well a model is performing..</a:t>
            </a:r>
          </a:p>
          <a:p>
            <a:pPr algn="ctr">
              <a:lnSpc>
                <a:spcPct val="150000"/>
              </a:lnSpc>
              <a:buNone/>
            </a:pPr>
            <a:r>
              <a:rPr lang="en-IN" sz="2200" dirty="0" smtClean="0">
                <a:latin typeface="Times New Roman" pitchFamily="18" charset="0"/>
                <a:cs typeface="Times New Roman" pitchFamily="18" charset="0"/>
              </a:rPr>
              <a:t>Accuracy = [TP +TN] / [TP+TN+FP+FN]</a:t>
            </a:r>
          </a:p>
          <a:p>
            <a:pPr algn="just">
              <a:lnSpc>
                <a:spcPct val="150000"/>
              </a:lnSpc>
              <a:buNone/>
            </a:pPr>
            <a:endParaRPr lang="en-IN" sz="2200" dirty="0" smtClean="0">
              <a:latin typeface="Times New Roman" pitchFamily="18" charset="0"/>
              <a:cs typeface="Times New Roman" pitchFamily="18" charset="0"/>
            </a:endParaRPr>
          </a:p>
          <a:p>
            <a:pPr algn="just">
              <a:lnSpc>
                <a:spcPct val="150000"/>
              </a:lnSpc>
              <a:buNone/>
            </a:pPr>
            <a:endParaRPr lang="en-IN" sz="2200" dirty="0" smtClean="0">
              <a:latin typeface="Times New Roman" pitchFamily="18" charset="0"/>
              <a:cs typeface="Times New Roman" pitchFamily="18" charset="0"/>
            </a:endParaRPr>
          </a:p>
          <a:p>
            <a:pPr lvl="0" algn="just">
              <a:lnSpc>
                <a:spcPct val="150000"/>
              </a:lnSpc>
              <a:buNone/>
            </a:pPr>
            <a:endParaRPr lang="en-US" sz="2200" b="1" dirty="0" smtClean="0">
              <a:latin typeface="Times New Roman" pitchFamily="18" charset="0"/>
              <a:cs typeface="Times New Roman" pitchFamily="18" charset="0"/>
            </a:endParaRPr>
          </a:p>
          <a:p>
            <a:pPr>
              <a:lnSpc>
                <a:spcPct val="150000"/>
              </a:lnSpc>
            </a:pPr>
            <a:endParaRPr lang="en-US" sz="2200" dirty="0">
              <a:latin typeface="Times New Roman" pitchFamily="18" charset="0"/>
              <a:cs typeface="Times New Roman" pitchFamily="18" charset="0"/>
            </a:endParaRPr>
          </a:p>
        </p:txBody>
      </p:sp>
      <p:sp>
        <p:nvSpPr>
          <p:cNvPr id="102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39762"/>
          </a:xfrm>
        </p:spPr>
        <p:txBody>
          <a:bodyPr>
            <a:normAutofit/>
          </a:bodyPr>
          <a:lstStyle/>
          <a:p>
            <a:r>
              <a:rPr lang="en-IN" sz="2800" b="1" i="1" u="sng" dirty="0" smtClean="0">
                <a:latin typeface="Times New Roman" pitchFamily="18" charset="0"/>
                <a:cs typeface="Times New Roman" pitchFamily="18" charset="0"/>
              </a:rPr>
              <a:t>Parameters Calculation</a:t>
            </a:r>
            <a:endParaRPr lang="en-US" sz="2800" b="1" i="1" u="sng" dirty="0">
              <a:latin typeface="Times New Roman" pitchFamily="18" charset="0"/>
              <a:cs typeface="Times New Roman" pitchFamily="18" charset="0"/>
            </a:endParaRPr>
          </a:p>
        </p:txBody>
      </p:sp>
      <p:sp>
        <p:nvSpPr>
          <p:cNvPr id="3" name="Content Placeholder 2"/>
          <p:cNvSpPr>
            <a:spLocks noGrp="1"/>
          </p:cNvSpPr>
          <p:nvPr>
            <p:ph idx="1"/>
          </p:nvPr>
        </p:nvSpPr>
        <p:spPr>
          <a:xfrm>
            <a:off x="152400" y="762000"/>
            <a:ext cx="8686800" cy="5715000"/>
          </a:xfrm>
        </p:spPr>
        <p:txBody>
          <a:bodyPr>
            <a:noAutofit/>
          </a:bodyPr>
          <a:lstStyle/>
          <a:p>
            <a:pPr lvl="0" algn="just">
              <a:lnSpc>
                <a:spcPct val="150000"/>
              </a:lnSpc>
              <a:buNone/>
            </a:pPr>
            <a:r>
              <a:rPr lang="en-US" sz="2200" b="1" u="sng" dirty="0" smtClean="0">
                <a:latin typeface="Times New Roman" pitchFamily="18" charset="0"/>
                <a:cs typeface="Times New Roman" pitchFamily="18" charset="0"/>
              </a:rPr>
              <a:t>Classification Error </a:t>
            </a:r>
          </a:p>
          <a:p>
            <a:pPr lvl="0" algn="just">
              <a:lnSpc>
                <a:spcPct val="150000"/>
              </a:lnSpc>
              <a:buNone/>
            </a:pPr>
            <a:r>
              <a:rPr lang="en-US" sz="2200" dirty="0" smtClean="0">
                <a:latin typeface="Times New Roman" pitchFamily="18" charset="0"/>
                <a:cs typeface="Times New Roman" pitchFamily="18" charset="0"/>
              </a:rPr>
              <a:t>Classification error is a performance metric in machine learning that measures the proportion of incorrect predictions. </a:t>
            </a:r>
          </a:p>
          <a:p>
            <a:pPr algn="ctr">
              <a:lnSpc>
                <a:spcPct val="150000"/>
              </a:lnSpc>
              <a:buNone/>
            </a:pPr>
            <a:r>
              <a:rPr lang="en-US" sz="2200" b="1" dirty="0" smtClean="0">
                <a:latin typeface="Times New Roman" pitchFamily="18" charset="0"/>
                <a:cs typeface="Times New Roman" pitchFamily="18" charset="0"/>
              </a:rPr>
              <a:t>	</a:t>
            </a:r>
            <a:r>
              <a:rPr lang="en-US" sz="2200" dirty="0" smtClean="0">
                <a:latin typeface="Times New Roman" pitchFamily="18" charset="0"/>
                <a:cs typeface="Times New Roman" pitchFamily="18" charset="0"/>
              </a:rPr>
              <a:t>Classification Error = 100- Accuracy</a:t>
            </a:r>
          </a:p>
          <a:p>
            <a:pPr algn="just">
              <a:lnSpc>
                <a:spcPct val="150000"/>
              </a:lnSpc>
              <a:buNone/>
            </a:pPr>
            <a:r>
              <a:rPr lang="en-US" sz="2200" b="1" u="sng" dirty="0" smtClean="0">
                <a:latin typeface="Times New Roman" pitchFamily="18" charset="0"/>
                <a:cs typeface="Times New Roman" pitchFamily="18" charset="0"/>
              </a:rPr>
              <a:t>Specificity</a:t>
            </a:r>
          </a:p>
          <a:p>
            <a:pPr algn="just">
              <a:lnSpc>
                <a:spcPct val="150000"/>
              </a:lnSpc>
              <a:buNone/>
            </a:pPr>
            <a:r>
              <a:rPr lang="en-US" sz="2200" dirty="0" smtClean="0">
                <a:latin typeface="Times New Roman" pitchFamily="18" charset="0"/>
                <a:cs typeface="Times New Roman" pitchFamily="18" charset="0"/>
              </a:rPr>
              <a:t>Specificity is the ability of a model to correctly identify all the negative instances.</a:t>
            </a:r>
          </a:p>
          <a:p>
            <a:pPr algn="ctr">
              <a:lnSpc>
                <a:spcPct val="150000"/>
              </a:lnSpc>
              <a:buNone/>
            </a:pPr>
            <a:r>
              <a:rPr lang="en-US" sz="2200" dirty="0" smtClean="0">
                <a:latin typeface="Times New Roman" pitchFamily="18" charset="0"/>
                <a:cs typeface="Times New Roman" pitchFamily="18" charset="0"/>
              </a:rPr>
              <a:t>Specificity = True Negatives / (True Negatives + False Positives)</a:t>
            </a:r>
            <a:endParaRPr lang="en-IN" sz="2200" dirty="0" smtClean="0">
              <a:latin typeface="Times New Roman" pitchFamily="18" charset="0"/>
              <a:cs typeface="Times New Roman" pitchFamily="18" charset="0"/>
            </a:endParaRPr>
          </a:p>
          <a:p>
            <a:pPr algn="just">
              <a:lnSpc>
                <a:spcPct val="150000"/>
              </a:lnSpc>
              <a:buNone/>
            </a:pPr>
            <a:endParaRPr lang="en-IN" sz="2200" dirty="0" smtClean="0">
              <a:latin typeface="Times New Roman" pitchFamily="18" charset="0"/>
              <a:cs typeface="Times New Roman" pitchFamily="18" charset="0"/>
            </a:endParaRPr>
          </a:p>
          <a:p>
            <a:pPr lvl="0" algn="just">
              <a:lnSpc>
                <a:spcPct val="150000"/>
              </a:lnSpc>
              <a:buNone/>
            </a:pPr>
            <a:endParaRPr lang="en-US" sz="2200" b="1" dirty="0" smtClean="0">
              <a:latin typeface="Times New Roman" pitchFamily="18" charset="0"/>
              <a:cs typeface="Times New Roman" pitchFamily="18" charset="0"/>
            </a:endParaRPr>
          </a:p>
          <a:p>
            <a:pPr>
              <a:lnSpc>
                <a:spcPct val="150000"/>
              </a:lnSpc>
            </a:pPr>
            <a:endParaRPr lang="en-US" sz="2200" dirty="0">
              <a:latin typeface="Times New Roman" pitchFamily="18" charset="0"/>
              <a:cs typeface="Times New Roman" pitchFamily="18" charset="0"/>
            </a:endParaRPr>
          </a:p>
        </p:txBody>
      </p:sp>
      <p:sp>
        <p:nvSpPr>
          <p:cNvPr id="102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228600"/>
            <a:ext cx="7638288" cy="762000"/>
          </a:xfrm>
        </p:spPr>
        <p:txBody>
          <a:bodyPr>
            <a:noAutofit/>
          </a:bodyPr>
          <a:lstStyle/>
          <a:p>
            <a:r>
              <a:rPr lang="en-US" sz="3200" dirty="0" smtClean="0">
                <a:latin typeface="Times New Roman" pitchFamily="18" charset="0"/>
                <a:cs typeface="Times New Roman" pitchFamily="18" charset="0"/>
              </a:rPr>
              <a:t>SIMULATION RESULT </a:t>
            </a:r>
            <a:endParaRPr lang="en-US" sz="3200" dirty="0">
              <a:latin typeface="Times New Roman" pitchFamily="18" charset="0"/>
              <a:cs typeface="Times New Roman" pitchFamily="18" charset="0"/>
            </a:endParaRPr>
          </a:p>
        </p:txBody>
      </p:sp>
      <p:pic>
        <p:nvPicPr>
          <p:cNvPr id="5" name="Picture 4"/>
          <p:cNvPicPr/>
          <p:nvPr/>
        </p:nvPicPr>
        <p:blipFill>
          <a:blip r:embed="rId2" cstate="print">
            <a:lum bright="-20000" contrast="40000"/>
          </a:blip>
          <a:srcRect/>
          <a:stretch>
            <a:fillRect/>
          </a:stretch>
        </p:blipFill>
        <p:spPr bwMode="auto">
          <a:xfrm>
            <a:off x="838200" y="1143000"/>
            <a:ext cx="7239000" cy="4571999"/>
          </a:xfrm>
          <a:prstGeom prst="rect">
            <a:avLst/>
          </a:prstGeom>
          <a:noFill/>
          <a:ln w="9525">
            <a:noFill/>
            <a:miter lim="800000"/>
            <a:headEnd/>
            <a:tailEnd/>
          </a:ln>
        </p:spPr>
      </p:pic>
      <p:sp>
        <p:nvSpPr>
          <p:cNvPr id="14337" name="Rectangle 1"/>
          <p:cNvSpPr>
            <a:spLocks noChangeArrowheads="1"/>
          </p:cNvSpPr>
          <p:nvPr/>
        </p:nvSpPr>
        <p:spPr bwMode="auto">
          <a:xfrm>
            <a:off x="2286000" y="6063734"/>
            <a:ext cx="4172937"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Figure 2: Snap shot of </a:t>
            </a:r>
            <a:r>
              <a:rPr kumimoji="0" lang="en-US" b="0" i="0" u="none" strike="noStrike" cap="none" normalizeH="0" baseline="0" dirty="0" err="1" smtClean="0">
                <a:ln>
                  <a:noFill/>
                </a:ln>
                <a:solidFill>
                  <a:schemeClr val="tx1"/>
                </a:solidFill>
                <a:effectLst/>
                <a:latin typeface="Times New Roman" pitchFamily="18" charset="0"/>
                <a:ea typeface="Calibri" pitchFamily="34" charset="0"/>
                <a:cs typeface="Times New Roman" pitchFamily="18" charset="0"/>
              </a:rPr>
              <a:t>Spyder</a:t>
            </a:r>
            <a:r>
              <a:rPr kumimoji="0" lang="en-US"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environment</a:t>
            </a:r>
            <a:endParaRPr kumimoji="0" lang="en-US" sz="28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
          <p:cNvSpPr>
            <a:spLocks noChangeArrowheads="1"/>
          </p:cNvSpPr>
          <p:nvPr/>
        </p:nvSpPr>
        <p:spPr bwMode="auto">
          <a:xfrm>
            <a:off x="3048000" y="5943600"/>
            <a:ext cx="3276600" cy="36933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ctr" fontAlgn="base">
              <a:spcBef>
                <a:spcPct val="0"/>
              </a:spcBef>
              <a:spcAft>
                <a:spcPct val="0"/>
              </a:spcAft>
            </a:pPr>
            <a:r>
              <a:rPr kumimoji="0" lang="en-US"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Figure 3</a:t>
            </a:r>
            <a:r>
              <a:rPr lang="en-US" dirty="0" smtClean="0">
                <a:latin typeface="Times New Roman" pitchFamily="18" charset="0"/>
                <a:ea typeface="Calibri" pitchFamily="34" charset="0"/>
                <a:cs typeface="Times New Roman" pitchFamily="18" charset="0"/>
              </a:rPr>
              <a:t>: Dataset</a:t>
            </a:r>
            <a:endParaRPr kumimoji="0" lang="en-US" sz="2800" b="0" i="0" u="none" strike="noStrike" cap="none" normalizeH="0" baseline="0" dirty="0" smtClean="0">
              <a:ln>
                <a:noFill/>
              </a:ln>
              <a:solidFill>
                <a:schemeClr val="tx1"/>
              </a:solidFill>
              <a:effectLst/>
              <a:latin typeface="Arial" pitchFamily="34" charset="0"/>
              <a:cs typeface="Arial" pitchFamily="34" charset="0"/>
            </a:endParaRPr>
          </a:p>
        </p:txBody>
      </p:sp>
      <p:pic>
        <p:nvPicPr>
          <p:cNvPr id="5" name="Picture 4"/>
          <p:cNvPicPr/>
          <p:nvPr/>
        </p:nvPicPr>
        <p:blipFill>
          <a:blip r:embed="rId2" cstate="print">
            <a:lum bright="-20000" contrast="40000"/>
          </a:blip>
          <a:srcRect/>
          <a:stretch>
            <a:fillRect/>
          </a:stretch>
        </p:blipFill>
        <p:spPr bwMode="auto">
          <a:xfrm>
            <a:off x="1219200" y="762000"/>
            <a:ext cx="7010400" cy="4953000"/>
          </a:xfrm>
          <a:prstGeom prst="rect">
            <a:avLst/>
          </a:prstGeom>
          <a:noFill/>
          <a:ln w="9525">
            <a:noFill/>
            <a:miter lim="800000"/>
            <a:headEnd/>
            <a:tailEnd/>
          </a:ln>
        </p:spPr>
      </p:pic>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
          <p:cNvSpPr>
            <a:spLocks noChangeArrowheads="1"/>
          </p:cNvSpPr>
          <p:nvPr/>
        </p:nvSpPr>
        <p:spPr bwMode="auto">
          <a:xfrm>
            <a:off x="2209800" y="6096000"/>
            <a:ext cx="5029200" cy="36933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ctr" fontAlgn="base">
              <a:spcBef>
                <a:spcPct val="0"/>
              </a:spcBef>
              <a:spcAft>
                <a:spcPct val="0"/>
              </a:spcAft>
            </a:pPr>
            <a:r>
              <a:rPr kumimoji="0" lang="en-US"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Figure </a:t>
            </a:r>
            <a:r>
              <a:rPr lang="en-US" dirty="0" smtClean="0">
                <a:latin typeface="Times New Roman" pitchFamily="18" charset="0"/>
                <a:ea typeface="Calibri" pitchFamily="34" charset="0"/>
                <a:cs typeface="Times New Roman" pitchFamily="18" charset="0"/>
              </a:rPr>
              <a:t>4: Data frame in the python </a:t>
            </a:r>
            <a:r>
              <a:rPr lang="en-US" dirty="0" err="1" smtClean="0">
                <a:latin typeface="Times New Roman" pitchFamily="18" charset="0"/>
                <a:ea typeface="Calibri" pitchFamily="34" charset="0"/>
                <a:cs typeface="Times New Roman" pitchFamily="18" charset="0"/>
              </a:rPr>
              <a:t>spyder</a:t>
            </a:r>
            <a:endParaRPr lang="en-US" dirty="0" smtClean="0">
              <a:latin typeface="Times New Roman" pitchFamily="18" charset="0"/>
              <a:ea typeface="Calibri" pitchFamily="34" charset="0"/>
              <a:cs typeface="Times New Roman" pitchFamily="18" charset="0"/>
            </a:endParaRPr>
          </a:p>
        </p:txBody>
      </p:sp>
      <p:pic>
        <p:nvPicPr>
          <p:cNvPr id="4" name="Picture 3"/>
          <p:cNvPicPr/>
          <p:nvPr/>
        </p:nvPicPr>
        <p:blipFill>
          <a:blip r:embed="rId2" cstate="print">
            <a:lum bright="-20000" contrast="40000"/>
          </a:blip>
          <a:srcRect/>
          <a:stretch>
            <a:fillRect/>
          </a:stretch>
        </p:blipFill>
        <p:spPr bwMode="auto">
          <a:xfrm>
            <a:off x="1066800" y="685800"/>
            <a:ext cx="7010400" cy="5181600"/>
          </a:xfrm>
          <a:prstGeom prst="rect">
            <a:avLst/>
          </a:prstGeom>
          <a:noFill/>
          <a:ln w="9525">
            <a:noFill/>
            <a:miter lim="800000"/>
            <a:headEnd/>
            <a:tailEnd/>
          </a:ln>
        </p:spPr>
      </p:pic>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
          <p:cNvSpPr>
            <a:spLocks noChangeArrowheads="1"/>
          </p:cNvSpPr>
          <p:nvPr/>
        </p:nvSpPr>
        <p:spPr bwMode="auto">
          <a:xfrm>
            <a:off x="2971800" y="6058524"/>
            <a:ext cx="3429000" cy="36933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ctr" fontAlgn="base">
              <a:spcBef>
                <a:spcPct val="0"/>
              </a:spcBef>
              <a:spcAft>
                <a:spcPct val="0"/>
              </a:spcAft>
            </a:pPr>
            <a:r>
              <a:rPr kumimoji="0" lang="en-US"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Figure 5</a:t>
            </a:r>
            <a:r>
              <a:rPr lang="en-US" dirty="0" smtClean="0">
                <a:latin typeface="Times New Roman" pitchFamily="18" charset="0"/>
                <a:ea typeface="Calibri" pitchFamily="34" charset="0"/>
                <a:cs typeface="Times New Roman" pitchFamily="18" charset="0"/>
              </a:rPr>
              <a:t>: X train data</a:t>
            </a:r>
            <a:endParaRPr kumimoji="0" lang="en-US" sz="2800" b="0" i="0" u="none" strike="noStrike" cap="none" normalizeH="0" baseline="0" dirty="0" smtClean="0">
              <a:ln>
                <a:noFill/>
              </a:ln>
              <a:solidFill>
                <a:schemeClr val="tx1"/>
              </a:solidFill>
              <a:effectLst/>
              <a:latin typeface="Arial" pitchFamily="34" charset="0"/>
              <a:cs typeface="Arial" pitchFamily="34" charset="0"/>
            </a:endParaRPr>
          </a:p>
        </p:txBody>
      </p:sp>
      <p:pic>
        <p:nvPicPr>
          <p:cNvPr id="5" name="Picture 4"/>
          <p:cNvPicPr/>
          <p:nvPr/>
        </p:nvPicPr>
        <p:blipFill>
          <a:blip r:embed="rId2" cstate="print">
            <a:lum bright="-20000" contrast="40000"/>
          </a:blip>
          <a:srcRect/>
          <a:stretch>
            <a:fillRect/>
          </a:stretch>
        </p:blipFill>
        <p:spPr bwMode="auto">
          <a:xfrm>
            <a:off x="1143000" y="838200"/>
            <a:ext cx="7162800" cy="5105400"/>
          </a:xfrm>
          <a:prstGeom prst="rect">
            <a:avLst/>
          </a:prstGeom>
          <a:noFill/>
          <a:ln w="9525">
            <a:noFill/>
            <a:miter lim="800000"/>
            <a:headEnd/>
            <a:tailEnd/>
          </a:ln>
        </p:spPr>
      </p:pic>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
          <p:cNvSpPr>
            <a:spLocks noChangeArrowheads="1"/>
          </p:cNvSpPr>
          <p:nvPr/>
        </p:nvSpPr>
        <p:spPr bwMode="auto">
          <a:xfrm>
            <a:off x="2971800" y="6058524"/>
            <a:ext cx="3429000" cy="36933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ctr" fontAlgn="base">
              <a:spcBef>
                <a:spcPct val="0"/>
              </a:spcBef>
              <a:spcAft>
                <a:spcPct val="0"/>
              </a:spcAft>
            </a:pPr>
            <a:r>
              <a:rPr kumimoji="0" lang="en-US"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Figure 6</a:t>
            </a:r>
            <a:r>
              <a:rPr lang="en-US" dirty="0" smtClean="0">
                <a:latin typeface="Times New Roman" pitchFamily="18" charset="0"/>
                <a:ea typeface="Calibri" pitchFamily="34" charset="0"/>
                <a:cs typeface="Times New Roman" pitchFamily="18" charset="0"/>
              </a:rPr>
              <a:t>: X test data</a:t>
            </a:r>
            <a:endParaRPr kumimoji="0" lang="en-US" sz="2800" b="0" i="0" u="none" strike="noStrike" cap="none" normalizeH="0" baseline="0" dirty="0" smtClean="0">
              <a:ln>
                <a:noFill/>
              </a:ln>
              <a:solidFill>
                <a:schemeClr val="tx1"/>
              </a:solidFill>
              <a:effectLst/>
              <a:latin typeface="Arial" pitchFamily="34" charset="0"/>
              <a:cs typeface="Arial" pitchFamily="34" charset="0"/>
            </a:endParaRPr>
          </a:p>
        </p:txBody>
      </p:sp>
      <p:pic>
        <p:nvPicPr>
          <p:cNvPr id="5" name="Picture 4"/>
          <p:cNvPicPr/>
          <p:nvPr/>
        </p:nvPicPr>
        <p:blipFill>
          <a:blip r:embed="rId2" cstate="print">
            <a:lum bright="-20000" contrast="40000"/>
          </a:blip>
          <a:srcRect/>
          <a:stretch>
            <a:fillRect/>
          </a:stretch>
        </p:blipFill>
        <p:spPr bwMode="auto">
          <a:xfrm>
            <a:off x="1143000" y="838200"/>
            <a:ext cx="6858000" cy="4953000"/>
          </a:xfrm>
          <a:prstGeom prst="rect">
            <a:avLst/>
          </a:prstGeom>
          <a:noFill/>
          <a:ln w="9525">
            <a:noFill/>
            <a:miter lim="800000"/>
            <a:headEnd/>
            <a:tailEnd/>
          </a:ln>
        </p:spPr>
      </p:pic>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
          <p:cNvSpPr>
            <a:spLocks noChangeArrowheads="1"/>
          </p:cNvSpPr>
          <p:nvPr/>
        </p:nvSpPr>
        <p:spPr bwMode="auto">
          <a:xfrm>
            <a:off x="2971800" y="6058524"/>
            <a:ext cx="3429000" cy="36933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ctr" fontAlgn="base">
              <a:spcBef>
                <a:spcPct val="0"/>
              </a:spcBef>
              <a:spcAft>
                <a:spcPct val="0"/>
              </a:spcAft>
            </a:pPr>
            <a:r>
              <a:rPr kumimoji="0" lang="en-US"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Figure 7</a:t>
            </a:r>
            <a:r>
              <a:rPr lang="en-US" dirty="0" smtClean="0">
                <a:latin typeface="Times New Roman" pitchFamily="18" charset="0"/>
                <a:ea typeface="Calibri" pitchFamily="34" charset="0"/>
                <a:cs typeface="Times New Roman" pitchFamily="18" charset="0"/>
              </a:rPr>
              <a:t>: Y train data</a:t>
            </a:r>
            <a:endParaRPr kumimoji="0" lang="en-US" sz="2800" b="0" i="0" u="none" strike="noStrike" cap="none" normalizeH="0" baseline="0" dirty="0" smtClean="0">
              <a:ln>
                <a:noFill/>
              </a:ln>
              <a:solidFill>
                <a:schemeClr val="tx1"/>
              </a:solidFill>
              <a:effectLst/>
              <a:latin typeface="Arial" pitchFamily="34" charset="0"/>
              <a:cs typeface="Arial" pitchFamily="34" charset="0"/>
            </a:endParaRPr>
          </a:p>
        </p:txBody>
      </p:sp>
      <p:pic>
        <p:nvPicPr>
          <p:cNvPr id="5" name="Picture 4"/>
          <p:cNvPicPr/>
          <p:nvPr/>
        </p:nvPicPr>
        <p:blipFill>
          <a:blip r:embed="rId2" cstate="print">
            <a:lum bright="-20000" contrast="40000"/>
          </a:blip>
          <a:srcRect/>
          <a:stretch>
            <a:fillRect/>
          </a:stretch>
        </p:blipFill>
        <p:spPr bwMode="auto">
          <a:xfrm>
            <a:off x="1447800" y="685800"/>
            <a:ext cx="6553200" cy="5181600"/>
          </a:xfrm>
          <a:prstGeom prst="rect">
            <a:avLst/>
          </a:prstGeom>
          <a:noFill/>
          <a:ln w="9525">
            <a:noFill/>
            <a:miter lim="800000"/>
            <a:headEnd/>
            <a:tailEnd/>
          </a:ln>
        </p:spPr>
      </p:pic>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
          <p:cNvSpPr>
            <a:spLocks noChangeArrowheads="1"/>
          </p:cNvSpPr>
          <p:nvPr/>
        </p:nvSpPr>
        <p:spPr bwMode="auto">
          <a:xfrm>
            <a:off x="2971800" y="6058524"/>
            <a:ext cx="3429000" cy="36933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ctr" fontAlgn="base">
              <a:spcBef>
                <a:spcPct val="0"/>
              </a:spcBef>
              <a:spcAft>
                <a:spcPct val="0"/>
              </a:spcAft>
            </a:pPr>
            <a:r>
              <a:rPr kumimoji="0" lang="en-US"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Figure </a:t>
            </a:r>
            <a:r>
              <a:rPr lang="en-US" dirty="0" smtClean="0">
                <a:latin typeface="Times New Roman" pitchFamily="18" charset="0"/>
                <a:ea typeface="Calibri" pitchFamily="34" charset="0"/>
                <a:cs typeface="Times New Roman" pitchFamily="18" charset="0"/>
              </a:rPr>
              <a:t>8: Y test data</a:t>
            </a:r>
            <a:endParaRPr kumimoji="0" lang="en-US" sz="2800" b="0" i="0" u="none" strike="noStrike" cap="none" normalizeH="0" baseline="0" dirty="0" smtClean="0">
              <a:ln>
                <a:noFill/>
              </a:ln>
              <a:solidFill>
                <a:schemeClr val="tx1"/>
              </a:solidFill>
              <a:effectLst/>
              <a:latin typeface="Arial" pitchFamily="34" charset="0"/>
              <a:cs typeface="Arial" pitchFamily="34" charset="0"/>
            </a:endParaRPr>
          </a:p>
        </p:txBody>
      </p:sp>
      <p:pic>
        <p:nvPicPr>
          <p:cNvPr id="4" name="Picture 3"/>
          <p:cNvPicPr/>
          <p:nvPr/>
        </p:nvPicPr>
        <p:blipFill>
          <a:blip r:embed="rId2" cstate="print">
            <a:lum bright="-20000" contrast="40000"/>
          </a:blip>
          <a:srcRect/>
          <a:stretch>
            <a:fillRect/>
          </a:stretch>
        </p:blipFill>
        <p:spPr bwMode="auto">
          <a:xfrm>
            <a:off x="1600200" y="609600"/>
            <a:ext cx="6324600" cy="5257800"/>
          </a:xfrm>
          <a:prstGeom prst="rect">
            <a:avLst/>
          </a:prstGeom>
          <a:noFill/>
          <a:ln w="9525">
            <a:noFill/>
            <a:miter lim="800000"/>
            <a:headEnd/>
            <a:tailEnd/>
          </a:ln>
        </p:spPr>
      </p:pic>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
          <p:cNvSpPr>
            <a:spLocks noChangeArrowheads="1"/>
          </p:cNvSpPr>
          <p:nvPr/>
        </p:nvSpPr>
        <p:spPr bwMode="auto">
          <a:xfrm>
            <a:off x="2667000" y="6107668"/>
            <a:ext cx="4267200" cy="36933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ctr" fontAlgn="base">
              <a:spcBef>
                <a:spcPct val="0"/>
              </a:spcBef>
              <a:spcAft>
                <a:spcPct val="0"/>
              </a:spcAft>
            </a:pPr>
            <a:r>
              <a:rPr kumimoji="0" lang="en-US"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Figure </a:t>
            </a:r>
            <a:r>
              <a:rPr lang="en-US" dirty="0" smtClean="0">
                <a:latin typeface="Times New Roman" pitchFamily="18" charset="0"/>
                <a:ea typeface="Calibri" pitchFamily="34" charset="0"/>
                <a:cs typeface="Times New Roman" pitchFamily="18" charset="0"/>
              </a:rPr>
              <a:t>9: ANN prediction</a:t>
            </a:r>
          </a:p>
        </p:txBody>
      </p:sp>
      <p:pic>
        <p:nvPicPr>
          <p:cNvPr id="4" name="Picture 3"/>
          <p:cNvPicPr/>
          <p:nvPr/>
        </p:nvPicPr>
        <p:blipFill>
          <a:blip r:embed="rId2" cstate="print">
            <a:lum bright="-20000" contrast="40000"/>
          </a:blip>
          <a:srcRect/>
          <a:stretch>
            <a:fillRect/>
          </a:stretch>
        </p:blipFill>
        <p:spPr bwMode="auto">
          <a:xfrm>
            <a:off x="1905000" y="609600"/>
            <a:ext cx="5791200" cy="5181600"/>
          </a:xfrm>
          <a:prstGeom prst="rect">
            <a:avLst/>
          </a:prstGeom>
          <a:noFill/>
          <a:ln w="9525">
            <a:noFill/>
            <a:miter lim="800000"/>
            <a:headEnd/>
            <a:tailEnd/>
          </a:ln>
        </p:spPr>
      </p:pic>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
          <p:cNvSpPr>
            <a:spLocks noChangeArrowheads="1"/>
          </p:cNvSpPr>
          <p:nvPr/>
        </p:nvSpPr>
        <p:spPr bwMode="auto">
          <a:xfrm>
            <a:off x="2438400" y="6107668"/>
            <a:ext cx="4267200" cy="36933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ctr" fontAlgn="base">
              <a:spcBef>
                <a:spcPct val="0"/>
              </a:spcBef>
              <a:spcAft>
                <a:spcPct val="0"/>
              </a:spcAft>
            </a:pPr>
            <a:r>
              <a:rPr kumimoji="0" lang="en-US"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Figure </a:t>
            </a:r>
            <a:r>
              <a:rPr lang="en-US" dirty="0" smtClean="0">
                <a:latin typeface="Times New Roman" pitchFamily="18" charset="0"/>
                <a:ea typeface="Calibri" pitchFamily="34" charset="0"/>
                <a:cs typeface="Times New Roman" pitchFamily="18" charset="0"/>
              </a:rPr>
              <a:t>10: Confusion matrix</a:t>
            </a:r>
          </a:p>
        </p:txBody>
      </p:sp>
      <p:pic>
        <p:nvPicPr>
          <p:cNvPr id="4" name="Picture 3"/>
          <p:cNvPicPr/>
          <p:nvPr/>
        </p:nvPicPr>
        <p:blipFill>
          <a:blip r:embed="rId2" cstate="print">
            <a:lum bright="-20000" contrast="40000"/>
          </a:blip>
          <a:srcRect/>
          <a:stretch>
            <a:fillRect/>
          </a:stretch>
        </p:blipFill>
        <p:spPr bwMode="auto">
          <a:xfrm>
            <a:off x="1828800" y="762000"/>
            <a:ext cx="6172200" cy="4572000"/>
          </a:xfrm>
          <a:prstGeom prst="rect">
            <a:avLst/>
          </a:prstGeom>
          <a:noFill/>
          <a:ln w="9525">
            <a:noFill/>
            <a:miter lim="800000"/>
            <a:headEnd/>
            <a:tailEnd/>
          </a:ln>
        </p:spPr>
      </p:pic>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
          <p:cNvSpPr>
            <a:spLocks noChangeArrowheads="1"/>
          </p:cNvSpPr>
          <p:nvPr/>
        </p:nvSpPr>
        <p:spPr bwMode="auto">
          <a:xfrm>
            <a:off x="2438400" y="6107668"/>
            <a:ext cx="4267200" cy="36933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ctr" fontAlgn="base">
              <a:spcBef>
                <a:spcPct val="0"/>
              </a:spcBef>
              <a:spcAft>
                <a:spcPct val="0"/>
              </a:spcAft>
            </a:pPr>
            <a:r>
              <a:rPr kumimoji="0" lang="en-US"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Figure 11</a:t>
            </a:r>
            <a:r>
              <a:rPr lang="en-US" dirty="0" smtClean="0">
                <a:latin typeface="Times New Roman" pitchFamily="18" charset="0"/>
                <a:ea typeface="Calibri" pitchFamily="34" charset="0"/>
                <a:cs typeface="Times New Roman" pitchFamily="18" charset="0"/>
              </a:rPr>
              <a:t>: ROC Curve </a:t>
            </a:r>
          </a:p>
        </p:txBody>
      </p:sp>
      <p:pic>
        <p:nvPicPr>
          <p:cNvPr id="4" name="Picture 3"/>
          <p:cNvPicPr/>
          <p:nvPr/>
        </p:nvPicPr>
        <p:blipFill>
          <a:blip r:embed="rId2" cstate="print">
            <a:lum bright="-20000" contrast="40000"/>
          </a:blip>
          <a:srcRect/>
          <a:stretch>
            <a:fillRect/>
          </a:stretch>
        </p:blipFill>
        <p:spPr bwMode="auto">
          <a:xfrm>
            <a:off x="1066800" y="685800"/>
            <a:ext cx="7239000" cy="5029200"/>
          </a:xfrm>
          <a:prstGeom prst="rect">
            <a:avLst/>
          </a:prstGeom>
          <a:noFill/>
          <a:ln w="9525">
            <a:noFill/>
            <a:miter lim="800000"/>
            <a:headEnd/>
            <a:tailEnd/>
          </a:ln>
        </p:spPr>
      </p:pic>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1"/>
          <p:cNvSpPr>
            <a:spLocks noChangeArrowheads="1"/>
          </p:cNvSpPr>
          <p:nvPr/>
        </p:nvSpPr>
        <p:spPr bwMode="auto">
          <a:xfrm>
            <a:off x="2728166" y="381000"/>
            <a:ext cx="3755515" cy="461665"/>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algn="ctr" fontAlgn="base">
              <a:spcBef>
                <a:spcPct val="0"/>
              </a:spcBef>
              <a:spcAft>
                <a:spcPct val="0"/>
              </a:spcAft>
            </a:pPr>
            <a:r>
              <a:rPr kumimoji="0" lang="en-US" sz="2400" b="0" i="0" u="none" strike="noStrike" cap="none" normalizeH="0" baseline="0" dirty="0" smtClean="0">
                <a:ln>
                  <a:noFill/>
                </a:ln>
                <a:solidFill>
                  <a:srgbClr val="000000"/>
                </a:solidFill>
                <a:effectLst/>
                <a:latin typeface="Times New Roman" pitchFamily="18" charset="0"/>
                <a:ea typeface="Calibri" pitchFamily="34" charset="0"/>
                <a:cs typeface="Times New Roman" pitchFamily="18" charset="0"/>
              </a:rPr>
              <a:t>Table 1: </a:t>
            </a:r>
            <a:r>
              <a:rPr lang="en-US" sz="2400" dirty="0" smtClean="0">
                <a:solidFill>
                  <a:srgbClr val="000000"/>
                </a:solidFill>
                <a:latin typeface="Times New Roman" pitchFamily="18" charset="0"/>
                <a:ea typeface="Calibri" pitchFamily="34" charset="0"/>
                <a:cs typeface="Times New Roman" pitchFamily="18" charset="0"/>
              </a:rPr>
              <a:t>Simulation Scenario</a:t>
            </a:r>
            <a:endParaRPr kumimoji="0" lang="en-US" sz="3600" b="0" i="0" u="none" strike="noStrike" cap="none" normalizeH="0" baseline="0" dirty="0" smtClean="0">
              <a:ln>
                <a:noFill/>
              </a:ln>
              <a:solidFill>
                <a:schemeClr val="tx1"/>
              </a:solidFill>
              <a:effectLst/>
              <a:latin typeface="Arial" pitchFamily="34" charset="0"/>
              <a:cs typeface="Arial" pitchFamily="34" charset="0"/>
            </a:endParaRPr>
          </a:p>
        </p:txBody>
      </p:sp>
      <p:graphicFrame>
        <p:nvGraphicFramePr>
          <p:cNvPr id="4" name="Table 3"/>
          <p:cNvGraphicFramePr>
            <a:graphicFrameLocks noGrp="1"/>
          </p:cNvGraphicFramePr>
          <p:nvPr/>
        </p:nvGraphicFramePr>
        <p:xfrm>
          <a:off x="1295400" y="1295400"/>
          <a:ext cx="6553200" cy="4727523"/>
        </p:xfrm>
        <a:graphic>
          <a:graphicData uri="http://schemas.openxmlformats.org/drawingml/2006/table">
            <a:tbl>
              <a:tblPr/>
              <a:tblGrid>
                <a:gridCol w="927484"/>
                <a:gridCol w="2869453"/>
                <a:gridCol w="2756263"/>
              </a:tblGrid>
              <a:tr h="686841">
                <a:tc>
                  <a:txBody>
                    <a:bodyPr/>
                    <a:lstStyle/>
                    <a:p>
                      <a:pPr marL="0" marR="18415" algn="ctr">
                        <a:lnSpc>
                          <a:spcPct val="150000"/>
                        </a:lnSpc>
                        <a:spcBef>
                          <a:spcPts val="1200"/>
                        </a:spcBef>
                        <a:spcAft>
                          <a:spcPts val="0"/>
                        </a:spcAft>
                      </a:pPr>
                      <a:r>
                        <a:rPr lang="en-US" sz="2000" b="1" kern="1200" dirty="0">
                          <a:solidFill>
                            <a:srgbClr val="000000"/>
                          </a:solidFill>
                          <a:latin typeface="Times New Roman"/>
                          <a:ea typeface="Calibri"/>
                        </a:rPr>
                        <a:t>Sr. No.</a:t>
                      </a:r>
                      <a:endParaRPr lang="en-US" sz="2000" dirty="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18415" algn="ctr">
                        <a:lnSpc>
                          <a:spcPct val="150000"/>
                        </a:lnSpc>
                        <a:spcBef>
                          <a:spcPts val="1200"/>
                        </a:spcBef>
                        <a:spcAft>
                          <a:spcPts val="0"/>
                        </a:spcAft>
                      </a:pPr>
                      <a:r>
                        <a:rPr lang="en-US" sz="2000" b="1" kern="1200">
                          <a:solidFill>
                            <a:srgbClr val="000000"/>
                          </a:solidFill>
                          <a:latin typeface="Times New Roman"/>
                          <a:ea typeface="Calibri"/>
                        </a:rPr>
                        <a:t>Parameter Name</a:t>
                      </a:r>
                      <a:endParaRPr lang="en-US" sz="200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18415" algn="ctr">
                        <a:lnSpc>
                          <a:spcPct val="150000"/>
                        </a:lnSpc>
                        <a:spcBef>
                          <a:spcPts val="1200"/>
                        </a:spcBef>
                        <a:spcAft>
                          <a:spcPts val="0"/>
                        </a:spcAft>
                      </a:pPr>
                      <a:r>
                        <a:rPr lang="en-US" sz="2000" b="1">
                          <a:latin typeface="Times New Roman"/>
                          <a:ea typeface="Times New Roman"/>
                        </a:rPr>
                        <a:t>Value (%)</a:t>
                      </a:r>
                      <a:endParaRPr lang="en-US" sz="200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86841">
                <a:tc>
                  <a:txBody>
                    <a:bodyPr/>
                    <a:lstStyle/>
                    <a:p>
                      <a:pPr marL="0" marR="18415" algn="ctr">
                        <a:lnSpc>
                          <a:spcPct val="150000"/>
                        </a:lnSpc>
                        <a:spcBef>
                          <a:spcPts val="1200"/>
                        </a:spcBef>
                        <a:spcAft>
                          <a:spcPts val="0"/>
                        </a:spcAft>
                      </a:pPr>
                      <a:r>
                        <a:rPr lang="en-US" sz="2000" kern="1200">
                          <a:solidFill>
                            <a:srgbClr val="000000"/>
                          </a:solidFill>
                          <a:latin typeface="Times New Roman"/>
                          <a:ea typeface="Calibri"/>
                        </a:rPr>
                        <a:t>1</a:t>
                      </a:r>
                      <a:endParaRPr lang="en-US" sz="200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50000"/>
                        </a:lnSpc>
                        <a:spcBef>
                          <a:spcPts val="1200"/>
                        </a:spcBef>
                        <a:spcAft>
                          <a:spcPts val="0"/>
                        </a:spcAft>
                      </a:pPr>
                      <a:r>
                        <a:rPr lang="en-US" sz="2000" kern="1200">
                          <a:solidFill>
                            <a:srgbClr val="000000"/>
                          </a:solidFill>
                          <a:latin typeface="Times New Roman"/>
                          <a:ea typeface="Calibri"/>
                        </a:rPr>
                        <a:t>Windows</a:t>
                      </a:r>
                      <a:endParaRPr lang="en-US" sz="200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50000"/>
                        </a:lnSpc>
                        <a:spcBef>
                          <a:spcPts val="1200"/>
                        </a:spcBef>
                        <a:spcAft>
                          <a:spcPts val="0"/>
                        </a:spcAft>
                      </a:pPr>
                      <a:r>
                        <a:rPr lang="en-US" sz="2000" kern="1200" dirty="0" smtClean="0">
                          <a:solidFill>
                            <a:srgbClr val="000000"/>
                          </a:solidFill>
                          <a:latin typeface="Times New Roman"/>
                          <a:ea typeface="Calibri"/>
                        </a:rPr>
                        <a:t>10 or 11</a:t>
                      </a:r>
                      <a:endParaRPr lang="en-US" sz="2000" dirty="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86841">
                <a:tc>
                  <a:txBody>
                    <a:bodyPr/>
                    <a:lstStyle/>
                    <a:p>
                      <a:pPr marL="0" marR="18415" algn="ctr">
                        <a:lnSpc>
                          <a:spcPct val="150000"/>
                        </a:lnSpc>
                        <a:spcBef>
                          <a:spcPts val="1200"/>
                        </a:spcBef>
                        <a:spcAft>
                          <a:spcPts val="0"/>
                        </a:spcAft>
                      </a:pPr>
                      <a:r>
                        <a:rPr lang="en-US" sz="2000" kern="1200">
                          <a:solidFill>
                            <a:srgbClr val="000000"/>
                          </a:solidFill>
                          <a:latin typeface="Times New Roman"/>
                          <a:ea typeface="Calibri"/>
                        </a:rPr>
                        <a:t>2</a:t>
                      </a:r>
                      <a:endParaRPr lang="en-US" sz="200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50000"/>
                        </a:lnSpc>
                        <a:spcBef>
                          <a:spcPts val="1200"/>
                        </a:spcBef>
                        <a:spcAft>
                          <a:spcPts val="0"/>
                        </a:spcAft>
                      </a:pPr>
                      <a:r>
                        <a:rPr lang="en-US" sz="2000" kern="1200" dirty="0">
                          <a:solidFill>
                            <a:srgbClr val="000000"/>
                          </a:solidFill>
                          <a:latin typeface="Times New Roman"/>
                          <a:ea typeface="Calibri"/>
                        </a:rPr>
                        <a:t>RAM</a:t>
                      </a:r>
                      <a:endParaRPr lang="en-US" sz="2000" dirty="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50000"/>
                        </a:lnSpc>
                        <a:spcBef>
                          <a:spcPts val="1200"/>
                        </a:spcBef>
                        <a:spcAft>
                          <a:spcPts val="0"/>
                        </a:spcAft>
                      </a:pPr>
                      <a:r>
                        <a:rPr lang="en-US" sz="2000" kern="1200" dirty="0">
                          <a:solidFill>
                            <a:srgbClr val="000000"/>
                          </a:solidFill>
                          <a:latin typeface="Times New Roman"/>
                          <a:ea typeface="Calibri"/>
                        </a:rPr>
                        <a:t>8 GB</a:t>
                      </a:r>
                      <a:endParaRPr lang="en-US" sz="2000" dirty="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06477">
                <a:tc>
                  <a:txBody>
                    <a:bodyPr/>
                    <a:lstStyle/>
                    <a:p>
                      <a:pPr marL="0" marR="18415" algn="ctr">
                        <a:lnSpc>
                          <a:spcPct val="150000"/>
                        </a:lnSpc>
                        <a:spcBef>
                          <a:spcPts val="1200"/>
                        </a:spcBef>
                        <a:spcAft>
                          <a:spcPts val="0"/>
                        </a:spcAft>
                      </a:pPr>
                      <a:r>
                        <a:rPr lang="en-US" sz="2000" kern="1200">
                          <a:solidFill>
                            <a:srgbClr val="000000"/>
                          </a:solidFill>
                          <a:latin typeface="Times New Roman"/>
                          <a:ea typeface="Calibri"/>
                        </a:rPr>
                        <a:t>3</a:t>
                      </a:r>
                      <a:endParaRPr lang="en-US" sz="200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50000"/>
                        </a:lnSpc>
                        <a:spcBef>
                          <a:spcPts val="1200"/>
                        </a:spcBef>
                        <a:spcAft>
                          <a:spcPts val="0"/>
                        </a:spcAft>
                      </a:pPr>
                      <a:r>
                        <a:rPr lang="en-US" sz="2000" kern="1200">
                          <a:solidFill>
                            <a:srgbClr val="000000"/>
                          </a:solidFill>
                          <a:latin typeface="Times New Roman"/>
                          <a:ea typeface="Calibri"/>
                        </a:rPr>
                        <a:t>Processor</a:t>
                      </a:r>
                      <a:endParaRPr lang="en-US" sz="200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50000"/>
                        </a:lnSpc>
                        <a:spcBef>
                          <a:spcPts val="1200"/>
                        </a:spcBef>
                        <a:spcAft>
                          <a:spcPts val="0"/>
                        </a:spcAft>
                      </a:pPr>
                      <a:r>
                        <a:rPr lang="en-US" sz="2000" kern="1200" dirty="0">
                          <a:solidFill>
                            <a:srgbClr val="000000"/>
                          </a:solidFill>
                          <a:latin typeface="Times New Roman"/>
                          <a:ea typeface="Calibri"/>
                        </a:rPr>
                        <a:t>I3</a:t>
                      </a:r>
                      <a:endParaRPr lang="en-US" sz="2000" dirty="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86841">
                <a:tc>
                  <a:txBody>
                    <a:bodyPr/>
                    <a:lstStyle/>
                    <a:p>
                      <a:pPr marL="0" marR="18415" algn="ctr">
                        <a:lnSpc>
                          <a:spcPct val="150000"/>
                        </a:lnSpc>
                        <a:spcBef>
                          <a:spcPts val="1200"/>
                        </a:spcBef>
                        <a:spcAft>
                          <a:spcPts val="0"/>
                        </a:spcAft>
                      </a:pPr>
                      <a:r>
                        <a:rPr lang="en-US" sz="2000" kern="1200">
                          <a:solidFill>
                            <a:srgbClr val="000000"/>
                          </a:solidFill>
                          <a:latin typeface="Times New Roman"/>
                          <a:ea typeface="Calibri"/>
                        </a:rPr>
                        <a:t>4</a:t>
                      </a:r>
                      <a:endParaRPr lang="en-US" sz="200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50000"/>
                        </a:lnSpc>
                        <a:spcBef>
                          <a:spcPts val="1200"/>
                        </a:spcBef>
                        <a:spcAft>
                          <a:spcPts val="0"/>
                        </a:spcAft>
                      </a:pPr>
                      <a:r>
                        <a:rPr lang="en-US" sz="2000" kern="1200">
                          <a:solidFill>
                            <a:srgbClr val="000000"/>
                          </a:solidFill>
                          <a:latin typeface="Times New Roman"/>
                          <a:ea typeface="Calibri"/>
                        </a:rPr>
                        <a:t>Software</a:t>
                      </a:r>
                      <a:endParaRPr lang="en-US" sz="200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50000"/>
                        </a:lnSpc>
                        <a:spcBef>
                          <a:spcPts val="1200"/>
                        </a:spcBef>
                        <a:spcAft>
                          <a:spcPts val="0"/>
                        </a:spcAft>
                      </a:pPr>
                      <a:r>
                        <a:rPr lang="en-US" sz="2000" kern="1200" dirty="0">
                          <a:solidFill>
                            <a:srgbClr val="000000"/>
                          </a:solidFill>
                          <a:latin typeface="Times New Roman"/>
                          <a:ea typeface="Calibri"/>
                        </a:rPr>
                        <a:t>Python</a:t>
                      </a:r>
                      <a:endParaRPr lang="en-US" sz="2000" dirty="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86841">
                <a:tc>
                  <a:txBody>
                    <a:bodyPr/>
                    <a:lstStyle/>
                    <a:p>
                      <a:pPr marL="0" marR="18415" algn="ctr">
                        <a:lnSpc>
                          <a:spcPct val="150000"/>
                        </a:lnSpc>
                        <a:spcBef>
                          <a:spcPts val="1200"/>
                        </a:spcBef>
                        <a:spcAft>
                          <a:spcPts val="0"/>
                        </a:spcAft>
                      </a:pPr>
                      <a:r>
                        <a:rPr lang="en-US" sz="2000" kern="1200">
                          <a:solidFill>
                            <a:srgbClr val="000000"/>
                          </a:solidFill>
                          <a:latin typeface="Times New Roman"/>
                          <a:ea typeface="Calibri"/>
                        </a:rPr>
                        <a:t>5</a:t>
                      </a:r>
                      <a:endParaRPr lang="en-US" sz="200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50000"/>
                        </a:lnSpc>
                        <a:spcBef>
                          <a:spcPts val="1200"/>
                        </a:spcBef>
                        <a:spcAft>
                          <a:spcPts val="0"/>
                        </a:spcAft>
                      </a:pPr>
                      <a:r>
                        <a:rPr lang="en-US" sz="2000" kern="1200">
                          <a:solidFill>
                            <a:srgbClr val="000000"/>
                          </a:solidFill>
                          <a:latin typeface="Times New Roman"/>
                          <a:ea typeface="Calibri"/>
                        </a:rPr>
                        <a:t>IDE</a:t>
                      </a:r>
                      <a:endParaRPr lang="en-US" sz="200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50000"/>
                        </a:lnSpc>
                        <a:spcBef>
                          <a:spcPts val="1200"/>
                        </a:spcBef>
                        <a:spcAft>
                          <a:spcPts val="0"/>
                        </a:spcAft>
                      </a:pPr>
                      <a:r>
                        <a:rPr lang="en-US" sz="2000" kern="1200" dirty="0">
                          <a:solidFill>
                            <a:srgbClr val="000000"/>
                          </a:solidFill>
                          <a:latin typeface="Times New Roman"/>
                          <a:ea typeface="Calibri"/>
                        </a:rPr>
                        <a:t>Spyder</a:t>
                      </a:r>
                      <a:endParaRPr lang="en-US" sz="2000" dirty="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86841">
                <a:tc>
                  <a:txBody>
                    <a:bodyPr/>
                    <a:lstStyle/>
                    <a:p>
                      <a:pPr marL="0" marR="18415" algn="ctr">
                        <a:lnSpc>
                          <a:spcPct val="150000"/>
                        </a:lnSpc>
                        <a:spcBef>
                          <a:spcPts val="1200"/>
                        </a:spcBef>
                        <a:spcAft>
                          <a:spcPts val="0"/>
                        </a:spcAft>
                      </a:pPr>
                      <a:r>
                        <a:rPr lang="en-US" sz="2000" kern="1200">
                          <a:solidFill>
                            <a:srgbClr val="000000"/>
                          </a:solidFill>
                          <a:latin typeface="Times New Roman"/>
                          <a:ea typeface="Calibri"/>
                        </a:rPr>
                        <a:t>6</a:t>
                      </a:r>
                      <a:endParaRPr lang="en-US" sz="200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50000"/>
                        </a:lnSpc>
                        <a:spcBef>
                          <a:spcPts val="1200"/>
                        </a:spcBef>
                        <a:spcAft>
                          <a:spcPts val="0"/>
                        </a:spcAft>
                      </a:pPr>
                      <a:r>
                        <a:rPr lang="en-US" sz="2000" kern="1200">
                          <a:solidFill>
                            <a:srgbClr val="000000"/>
                          </a:solidFill>
                          <a:latin typeface="Times New Roman"/>
                          <a:ea typeface="Calibri"/>
                        </a:rPr>
                        <a:t>Version</a:t>
                      </a:r>
                      <a:endParaRPr lang="en-US" sz="200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50000"/>
                        </a:lnSpc>
                        <a:spcBef>
                          <a:spcPts val="1200"/>
                        </a:spcBef>
                        <a:spcAft>
                          <a:spcPts val="0"/>
                        </a:spcAft>
                      </a:pPr>
                      <a:r>
                        <a:rPr lang="en-US" sz="2000" kern="1200" dirty="0">
                          <a:solidFill>
                            <a:srgbClr val="000000"/>
                          </a:solidFill>
                          <a:latin typeface="Times New Roman"/>
                          <a:ea typeface="Calibri"/>
                        </a:rPr>
                        <a:t>3.7</a:t>
                      </a:r>
                      <a:endParaRPr lang="en-US" sz="2000" dirty="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76200"/>
            <a:ext cx="8229600" cy="715962"/>
          </a:xfrm>
        </p:spPr>
        <p:txBody>
          <a:bodyPr>
            <a:noAutofit/>
          </a:bodyPr>
          <a:lstStyle/>
          <a:p>
            <a:pPr>
              <a:lnSpc>
                <a:spcPct val="150000"/>
              </a:lnSpc>
              <a:spcBef>
                <a:spcPts val="0"/>
              </a:spcBef>
            </a:pPr>
            <a:r>
              <a:rPr lang="en-US" sz="2400" dirty="0" smtClean="0">
                <a:latin typeface="Times New Roman"/>
                <a:ea typeface="Times New Roman"/>
              </a:rPr>
              <a:t/>
            </a:r>
            <a:br>
              <a:rPr lang="en-US" sz="2400" dirty="0" smtClean="0">
                <a:latin typeface="Times New Roman"/>
                <a:ea typeface="Times New Roman"/>
              </a:rPr>
            </a:br>
            <a:r>
              <a:rPr lang="en-US" sz="2400" dirty="0">
                <a:latin typeface="Times New Roman"/>
                <a:ea typeface="Times New Roman"/>
              </a:rPr>
              <a:t/>
            </a:r>
            <a:br>
              <a:rPr lang="en-US" sz="2400" dirty="0">
                <a:latin typeface="Times New Roman"/>
                <a:ea typeface="Times New Roman"/>
              </a:rPr>
            </a:br>
            <a:r>
              <a:rPr lang="en-US" sz="2400" dirty="0" smtClean="0">
                <a:latin typeface="Times New Roman"/>
                <a:ea typeface="Times New Roman"/>
              </a:rPr>
              <a:t>Table 2: Simulation Results </a:t>
            </a:r>
            <a:r>
              <a:rPr lang="en-US" dirty="0" smtClean="0">
                <a:latin typeface="Times New Roman"/>
                <a:ea typeface="Times New Roman"/>
              </a:rPr>
              <a:t/>
            </a:r>
            <a:br>
              <a:rPr lang="en-US" dirty="0" smtClean="0">
                <a:latin typeface="Times New Roman"/>
                <a:ea typeface="Times New Roman"/>
              </a:rPr>
            </a:br>
            <a:endParaRPr lang="en-US" dirty="0"/>
          </a:p>
        </p:txBody>
      </p:sp>
      <p:graphicFrame>
        <p:nvGraphicFramePr>
          <p:cNvPr id="5" name="Table 4"/>
          <p:cNvGraphicFramePr>
            <a:graphicFrameLocks noGrp="1"/>
          </p:cNvGraphicFramePr>
          <p:nvPr/>
        </p:nvGraphicFramePr>
        <p:xfrm>
          <a:off x="1066800" y="1066803"/>
          <a:ext cx="7239001" cy="5486394"/>
        </p:xfrm>
        <a:graphic>
          <a:graphicData uri="http://schemas.openxmlformats.org/drawingml/2006/table">
            <a:tbl>
              <a:tblPr/>
              <a:tblGrid>
                <a:gridCol w="1024546"/>
                <a:gridCol w="3169745"/>
                <a:gridCol w="3044710"/>
              </a:tblGrid>
              <a:tr h="659246">
                <a:tc>
                  <a:txBody>
                    <a:bodyPr/>
                    <a:lstStyle/>
                    <a:p>
                      <a:pPr marL="0" marR="18415" algn="ctr">
                        <a:lnSpc>
                          <a:spcPct val="150000"/>
                        </a:lnSpc>
                        <a:spcBef>
                          <a:spcPts val="1200"/>
                        </a:spcBef>
                        <a:spcAft>
                          <a:spcPts val="0"/>
                        </a:spcAft>
                      </a:pPr>
                      <a:r>
                        <a:rPr lang="en-US" sz="2000" b="1" kern="1200" dirty="0">
                          <a:solidFill>
                            <a:srgbClr val="000000"/>
                          </a:solidFill>
                          <a:latin typeface="Times New Roman"/>
                          <a:ea typeface="Calibri"/>
                        </a:rPr>
                        <a:t>Sr. No.</a:t>
                      </a:r>
                      <a:endParaRPr lang="en-US" sz="2000" dirty="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18415" algn="ctr">
                        <a:lnSpc>
                          <a:spcPct val="150000"/>
                        </a:lnSpc>
                        <a:spcBef>
                          <a:spcPts val="1200"/>
                        </a:spcBef>
                        <a:spcAft>
                          <a:spcPts val="0"/>
                        </a:spcAft>
                      </a:pPr>
                      <a:r>
                        <a:rPr lang="en-US" sz="2000" b="1" kern="1200">
                          <a:solidFill>
                            <a:srgbClr val="000000"/>
                          </a:solidFill>
                          <a:latin typeface="Times New Roman"/>
                          <a:ea typeface="Calibri"/>
                        </a:rPr>
                        <a:t>Parameter Name</a:t>
                      </a:r>
                      <a:endParaRPr lang="en-US" sz="200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18415" algn="ctr">
                        <a:lnSpc>
                          <a:spcPct val="150000"/>
                        </a:lnSpc>
                        <a:spcBef>
                          <a:spcPts val="1200"/>
                        </a:spcBef>
                        <a:spcAft>
                          <a:spcPts val="0"/>
                        </a:spcAft>
                      </a:pPr>
                      <a:r>
                        <a:rPr lang="en-US" sz="2000" b="1">
                          <a:latin typeface="Times New Roman"/>
                          <a:ea typeface="Times New Roman"/>
                        </a:rPr>
                        <a:t>Value (%)</a:t>
                      </a:r>
                      <a:endParaRPr lang="en-US" sz="200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59246">
                <a:tc>
                  <a:txBody>
                    <a:bodyPr/>
                    <a:lstStyle/>
                    <a:p>
                      <a:pPr marL="0" marR="18415" algn="ctr">
                        <a:lnSpc>
                          <a:spcPct val="150000"/>
                        </a:lnSpc>
                        <a:spcBef>
                          <a:spcPts val="1200"/>
                        </a:spcBef>
                        <a:spcAft>
                          <a:spcPts val="0"/>
                        </a:spcAft>
                      </a:pPr>
                      <a:r>
                        <a:rPr lang="en-US" sz="2000" kern="1200">
                          <a:solidFill>
                            <a:srgbClr val="000000"/>
                          </a:solidFill>
                          <a:latin typeface="Times New Roman"/>
                          <a:ea typeface="Calibri"/>
                        </a:rPr>
                        <a:t>1</a:t>
                      </a:r>
                      <a:endParaRPr lang="en-US" sz="200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18415" algn="just">
                        <a:lnSpc>
                          <a:spcPct val="200000"/>
                        </a:lnSpc>
                        <a:spcBef>
                          <a:spcPts val="0"/>
                        </a:spcBef>
                        <a:spcAft>
                          <a:spcPts val="0"/>
                        </a:spcAft>
                      </a:pPr>
                      <a:r>
                        <a:rPr lang="en-US" sz="2000" dirty="0">
                          <a:latin typeface="Times New Roman"/>
                          <a:ea typeface="Times New Roman"/>
                        </a:rPr>
                        <a:t>Precision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18415" algn="just">
                        <a:lnSpc>
                          <a:spcPct val="200000"/>
                        </a:lnSpc>
                        <a:spcBef>
                          <a:spcPts val="0"/>
                        </a:spcBef>
                        <a:spcAft>
                          <a:spcPts val="0"/>
                        </a:spcAft>
                      </a:pPr>
                      <a:r>
                        <a:rPr lang="en-US" sz="2000" dirty="0">
                          <a:latin typeface="Times New Roman"/>
                          <a:ea typeface="Times New Roman"/>
                        </a:rPr>
                        <a:t>97%</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59246">
                <a:tc>
                  <a:txBody>
                    <a:bodyPr/>
                    <a:lstStyle/>
                    <a:p>
                      <a:pPr marL="0" marR="18415" algn="ctr">
                        <a:lnSpc>
                          <a:spcPct val="150000"/>
                        </a:lnSpc>
                        <a:spcBef>
                          <a:spcPts val="1200"/>
                        </a:spcBef>
                        <a:spcAft>
                          <a:spcPts val="0"/>
                        </a:spcAft>
                      </a:pPr>
                      <a:r>
                        <a:rPr lang="en-US" sz="2000" kern="1200">
                          <a:solidFill>
                            <a:srgbClr val="000000"/>
                          </a:solidFill>
                          <a:latin typeface="Times New Roman"/>
                          <a:ea typeface="Calibri"/>
                        </a:rPr>
                        <a:t>2</a:t>
                      </a:r>
                      <a:endParaRPr lang="en-US" sz="200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18415" algn="just">
                        <a:lnSpc>
                          <a:spcPct val="200000"/>
                        </a:lnSpc>
                        <a:spcBef>
                          <a:spcPts val="0"/>
                        </a:spcBef>
                        <a:spcAft>
                          <a:spcPts val="0"/>
                        </a:spcAft>
                      </a:pPr>
                      <a:r>
                        <a:rPr lang="en-US" sz="2000">
                          <a:latin typeface="Times New Roman"/>
                          <a:ea typeface="Times New Roman"/>
                        </a:rPr>
                        <a:t>Recall</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18415" algn="just">
                        <a:lnSpc>
                          <a:spcPct val="200000"/>
                        </a:lnSpc>
                        <a:spcBef>
                          <a:spcPts val="0"/>
                        </a:spcBef>
                        <a:spcAft>
                          <a:spcPts val="0"/>
                        </a:spcAft>
                      </a:pPr>
                      <a:r>
                        <a:rPr lang="en-US" sz="2000" dirty="0">
                          <a:latin typeface="Times New Roman"/>
                          <a:ea typeface="Times New Roman"/>
                        </a:rPr>
                        <a:t>96%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871672">
                <a:tc>
                  <a:txBody>
                    <a:bodyPr/>
                    <a:lstStyle/>
                    <a:p>
                      <a:pPr marL="0" marR="18415" algn="ctr">
                        <a:lnSpc>
                          <a:spcPct val="150000"/>
                        </a:lnSpc>
                        <a:spcBef>
                          <a:spcPts val="1200"/>
                        </a:spcBef>
                        <a:spcAft>
                          <a:spcPts val="0"/>
                        </a:spcAft>
                      </a:pPr>
                      <a:r>
                        <a:rPr lang="en-US" sz="2000" kern="1200">
                          <a:solidFill>
                            <a:srgbClr val="000000"/>
                          </a:solidFill>
                          <a:latin typeface="Times New Roman"/>
                          <a:ea typeface="Calibri"/>
                        </a:rPr>
                        <a:t>3</a:t>
                      </a:r>
                      <a:endParaRPr lang="en-US" sz="200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18415" algn="just">
                        <a:lnSpc>
                          <a:spcPct val="200000"/>
                        </a:lnSpc>
                        <a:spcBef>
                          <a:spcPts val="0"/>
                        </a:spcBef>
                        <a:spcAft>
                          <a:spcPts val="0"/>
                        </a:spcAft>
                      </a:pPr>
                      <a:r>
                        <a:rPr lang="en-US" sz="2000">
                          <a:latin typeface="Times New Roman"/>
                          <a:ea typeface="Times New Roman"/>
                        </a:rPr>
                        <a:t>F measure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18415" algn="just">
                        <a:lnSpc>
                          <a:spcPct val="200000"/>
                        </a:lnSpc>
                        <a:spcBef>
                          <a:spcPts val="0"/>
                        </a:spcBef>
                        <a:spcAft>
                          <a:spcPts val="0"/>
                        </a:spcAft>
                      </a:pPr>
                      <a:r>
                        <a:rPr lang="en-US" sz="2000" dirty="0">
                          <a:latin typeface="Times New Roman"/>
                          <a:ea typeface="Times New Roman"/>
                        </a:rPr>
                        <a:t>98%</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59246">
                <a:tc>
                  <a:txBody>
                    <a:bodyPr/>
                    <a:lstStyle/>
                    <a:p>
                      <a:pPr marL="0" marR="18415" algn="ctr">
                        <a:lnSpc>
                          <a:spcPct val="150000"/>
                        </a:lnSpc>
                        <a:spcBef>
                          <a:spcPts val="1200"/>
                        </a:spcBef>
                        <a:spcAft>
                          <a:spcPts val="0"/>
                        </a:spcAft>
                      </a:pPr>
                      <a:r>
                        <a:rPr lang="en-US" sz="2000" kern="1200">
                          <a:solidFill>
                            <a:srgbClr val="000000"/>
                          </a:solidFill>
                          <a:latin typeface="Times New Roman"/>
                          <a:ea typeface="Calibri"/>
                        </a:rPr>
                        <a:t>4</a:t>
                      </a:r>
                      <a:endParaRPr lang="en-US" sz="200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18415" algn="just">
                        <a:lnSpc>
                          <a:spcPct val="200000"/>
                        </a:lnSpc>
                        <a:spcBef>
                          <a:spcPts val="0"/>
                        </a:spcBef>
                        <a:spcAft>
                          <a:spcPts val="0"/>
                        </a:spcAft>
                      </a:pPr>
                      <a:r>
                        <a:rPr lang="en-US" sz="2000">
                          <a:latin typeface="Times New Roman"/>
                          <a:ea typeface="Times New Roman"/>
                        </a:rPr>
                        <a:t>Sensitivity</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18415" algn="just">
                        <a:lnSpc>
                          <a:spcPct val="200000"/>
                        </a:lnSpc>
                        <a:spcBef>
                          <a:spcPts val="0"/>
                        </a:spcBef>
                        <a:spcAft>
                          <a:spcPts val="0"/>
                        </a:spcAft>
                      </a:pPr>
                      <a:r>
                        <a:rPr lang="en-US" sz="2000">
                          <a:latin typeface="Times New Roman"/>
                          <a:ea typeface="Times New Roman"/>
                        </a:rPr>
                        <a:t>96%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59246">
                <a:tc>
                  <a:txBody>
                    <a:bodyPr/>
                    <a:lstStyle/>
                    <a:p>
                      <a:pPr marL="0" marR="18415" algn="ctr">
                        <a:lnSpc>
                          <a:spcPct val="150000"/>
                        </a:lnSpc>
                        <a:spcBef>
                          <a:spcPts val="1200"/>
                        </a:spcBef>
                        <a:spcAft>
                          <a:spcPts val="0"/>
                        </a:spcAft>
                      </a:pPr>
                      <a:r>
                        <a:rPr lang="en-US" sz="2000" kern="1200">
                          <a:solidFill>
                            <a:srgbClr val="000000"/>
                          </a:solidFill>
                          <a:latin typeface="Times New Roman"/>
                          <a:ea typeface="Calibri"/>
                        </a:rPr>
                        <a:t>5</a:t>
                      </a:r>
                      <a:endParaRPr lang="en-US" sz="200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18415" algn="just">
                        <a:lnSpc>
                          <a:spcPct val="200000"/>
                        </a:lnSpc>
                        <a:spcBef>
                          <a:spcPts val="0"/>
                        </a:spcBef>
                        <a:spcAft>
                          <a:spcPts val="0"/>
                        </a:spcAft>
                      </a:pPr>
                      <a:r>
                        <a:rPr lang="en-US" sz="2000">
                          <a:latin typeface="Times New Roman"/>
                          <a:ea typeface="Times New Roman"/>
                        </a:rPr>
                        <a:t>Specificity</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18415" algn="just">
                        <a:lnSpc>
                          <a:spcPct val="200000"/>
                        </a:lnSpc>
                        <a:spcBef>
                          <a:spcPts val="0"/>
                        </a:spcBef>
                        <a:spcAft>
                          <a:spcPts val="0"/>
                        </a:spcAft>
                      </a:pPr>
                      <a:r>
                        <a:rPr lang="en-US" sz="2000">
                          <a:latin typeface="Times New Roman"/>
                          <a:ea typeface="Times New Roman"/>
                        </a:rPr>
                        <a:t>99%</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59246">
                <a:tc>
                  <a:txBody>
                    <a:bodyPr/>
                    <a:lstStyle/>
                    <a:p>
                      <a:pPr marL="0" marR="18415" algn="ctr">
                        <a:lnSpc>
                          <a:spcPct val="150000"/>
                        </a:lnSpc>
                        <a:spcBef>
                          <a:spcPts val="1200"/>
                        </a:spcBef>
                        <a:spcAft>
                          <a:spcPts val="0"/>
                        </a:spcAft>
                      </a:pPr>
                      <a:r>
                        <a:rPr lang="en-US" sz="2000" kern="1200">
                          <a:solidFill>
                            <a:srgbClr val="000000"/>
                          </a:solidFill>
                          <a:latin typeface="Times New Roman"/>
                          <a:ea typeface="Calibri"/>
                        </a:rPr>
                        <a:t>6</a:t>
                      </a:r>
                      <a:endParaRPr lang="en-US" sz="200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18415" algn="just">
                        <a:lnSpc>
                          <a:spcPct val="200000"/>
                        </a:lnSpc>
                        <a:spcBef>
                          <a:spcPts val="0"/>
                        </a:spcBef>
                        <a:spcAft>
                          <a:spcPts val="0"/>
                        </a:spcAft>
                      </a:pPr>
                      <a:r>
                        <a:rPr lang="en-US" sz="2000">
                          <a:latin typeface="Times New Roman"/>
                          <a:ea typeface="Times New Roman"/>
                        </a:rPr>
                        <a:t>Accuracy</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18415" algn="just">
                        <a:lnSpc>
                          <a:spcPct val="200000"/>
                        </a:lnSpc>
                        <a:spcBef>
                          <a:spcPts val="0"/>
                        </a:spcBef>
                        <a:spcAft>
                          <a:spcPts val="0"/>
                        </a:spcAft>
                      </a:pPr>
                      <a:r>
                        <a:rPr lang="en-US" sz="2000">
                          <a:latin typeface="Times New Roman"/>
                          <a:ea typeface="Times New Roman"/>
                        </a:rPr>
                        <a:t>98.04%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59246">
                <a:tc>
                  <a:txBody>
                    <a:bodyPr/>
                    <a:lstStyle/>
                    <a:p>
                      <a:pPr marL="0" marR="18415" algn="ctr">
                        <a:lnSpc>
                          <a:spcPct val="150000"/>
                        </a:lnSpc>
                        <a:spcBef>
                          <a:spcPts val="1200"/>
                        </a:spcBef>
                        <a:spcAft>
                          <a:spcPts val="0"/>
                        </a:spcAft>
                      </a:pPr>
                      <a:r>
                        <a:rPr lang="en-US" sz="2000" kern="1200">
                          <a:solidFill>
                            <a:srgbClr val="000000"/>
                          </a:solidFill>
                          <a:latin typeface="Times New Roman"/>
                          <a:ea typeface="Calibri"/>
                        </a:rPr>
                        <a:t>7</a:t>
                      </a:r>
                      <a:endParaRPr lang="en-US" sz="200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18415" algn="just">
                        <a:lnSpc>
                          <a:spcPct val="200000"/>
                        </a:lnSpc>
                        <a:spcBef>
                          <a:spcPts val="0"/>
                        </a:spcBef>
                        <a:spcAft>
                          <a:spcPts val="0"/>
                        </a:spcAft>
                      </a:pPr>
                      <a:r>
                        <a:rPr lang="en-US" sz="2000" dirty="0">
                          <a:latin typeface="Times New Roman"/>
                          <a:ea typeface="Times New Roman"/>
                        </a:rPr>
                        <a:t>Classification Error</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18415" algn="just">
                        <a:lnSpc>
                          <a:spcPct val="200000"/>
                        </a:lnSpc>
                        <a:spcBef>
                          <a:spcPts val="0"/>
                        </a:spcBef>
                        <a:spcAft>
                          <a:spcPts val="0"/>
                        </a:spcAft>
                      </a:pPr>
                      <a:r>
                        <a:rPr lang="en-US" sz="2000" dirty="0">
                          <a:latin typeface="Times New Roman"/>
                          <a:ea typeface="Times New Roman"/>
                        </a:rPr>
                        <a:t>1.96%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427038"/>
            <a:ext cx="8229600" cy="715962"/>
          </a:xfrm>
        </p:spPr>
        <p:txBody>
          <a:bodyPr>
            <a:noAutofit/>
          </a:bodyPr>
          <a:lstStyle/>
          <a:p>
            <a:pPr marL="0" marR="0">
              <a:lnSpc>
                <a:spcPct val="150000"/>
              </a:lnSpc>
              <a:spcBef>
                <a:spcPts val="0"/>
              </a:spcBef>
              <a:spcAft>
                <a:spcPts val="0"/>
              </a:spcAft>
            </a:pPr>
            <a:r>
              <a:rPr lang="en-US" sz="2400" dirty="0" smtClean="0">
                <a:latin typeface="Times New Roman"/>
                <a:ea typeface="Times New Roman"/>
              </a:rPr>
              <a:t/>
            </a:r>
            <a:br>
              <a:rPr lang="en-US" sz="2400" dirty="0" smtClean="0">
                <a:latin typeface="Times New Roman"/>
                <a:ea typeface="Times New Roman"/>
              </a:rPr>
            </a:br>
            <a:r>
              <a:rPr lang="en-US" sz="2400" dirty="0">
                <a:latin typeface="Times New Roman"/>
                <a:ea typeface="Times New Roman"/>
              </a:rPr>
              <a:t/>
            </a:r>
            <a:br>
              <a:rPr lang="en-US" sz="2400" dirty="0">
                <a:latin typeface="Times New Roman"/>
                <a:ea typeface="Times New Roman"/>
              </a:rPr>
            </a:br>
            <a:r>
              <a:rPr lang="en-US" sz="2400" dirty="0" smtClean="0">
                <a:latin typeface="Times New Roman"/>
                <a:ea typeface="Times New Roman"/>
              </a:rPr>
              <a:t>Table 3: Result Comparison </a:t>
            </a:r>
            <a:r>
              <a:rPr lang="en-US" dirty="0" smtClean="0">
                <a:latin typeface="Times New Roman"/>
                <a:ea typeface="Times New Roman"/>
              </a:rPr>
              <a:t/>
            </a:r>
            <a:br>
              <a:rPr lang="en-US" dirty="0" smtClean="0">
                <a:latin typeface="Times New Roman"/>
                <a:ea typeface="Times New Roman"/>
              </a:rPr>
            </a:br>
            <a:endParaRPr lang="en-US" dirty="0"/>
          </a:p>
        </p:txBody>
      </p:sp>
      <p:graphicFrame>
        <p:nvGraphicFramePr>
          <p:cNvPr id="5" name="Table 4"/>
          <p:cNvGraphicFramePr>
            <a:graphicFrameLocks noGrp="1"/>
          </p:cNvGraphicFramePr>
          <p:nvPr/>
        </p:nvGraphicFramePr>
        <p:xfrm>
          <a:off x="1295400" y="1524000"/>
          <a:ext cx="6705599" cy="3505200"/>
        </p:xfrm>
        <a:graphic>
          <a:graphicData uri="http://schemas.openxmlformats.org/drawingml/2006/table">
            <a:tbl>
              <a:tblPr/>
              <a:tblGrid>
                <a:gridCol w="1316311"/>
                <a:gridCol w="2790881"/>
                <a:gridCol w="2598407"/>
              </a:tblGrid>
              <a:tr h="701040">
                <a:tc>
                  <a:txBody>
                    <a:bodyPr/>
                    <a:lstStyle/>
                    <a:p>
                      <a:pPr marL="0" marR="0" indent="0" algn="just">
                        <a:lnSpc>
                          <a:spcPct val="150000"/>
                        </a:lnSpc>
                        <a:spcBef>
                          <a:spcPts val="0"/>
                        </a:spcBef>
                        <a:spcAft>
                          <a:spcPts val="30"/>
                        </a:spcAft>
                      </a:pPr>
                      <a:r>
                        <a:rPr lang="en-US" sz="2000" b="1" spc="-5" dirty="0">
                          <a:latin typeface="Times New Roman"/>
                          <a:ea typeface="SimSun"/>
                        </a:rPr>
                        <a:t>Sr. No.</a:t>
                      </a:r>
                      <a:endParaRPr lang="en-US" sz="2000" spc="-5" dirty="0">
                        <a:latin typeface="Times New Roman"/>
                        <a:ea typeface="SimSu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50000"/>
                        </a:lnSpc>
                        <a:spcBef>
                          <a:spcPts val="0"/>
                        </a:spcBef>
                        <a:spcAft>
                          <a:spcPts val="30"/>
                        </a:spcAft>
                      </a:pPr>
                      <a:r>
                        <a:rPr lang="en-US" sz="2000" b="1" spc="-5">
                          <a:latin typeface="Times New Roman"/>
                          <a:ea typeface="SimSun"/>
                        </a:rPr>
                        <a:t>Techniques</a:t>
                      </a:r>
                      <a:endParaRPr lang="en-US" sz="2000" spc="-5">
                        <a:latin typeface="Times New Roman"/>
                        <a:ea typeface="SimSu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50000"/>
                        </a:lnSpc>
                        <a:spcBef>
                          <a:spcPts val="0"/>
                        </a:spcBef>
                        <a:spcAft>
                          <a:spcPts val="30"/>
                        </a:spcAft>
                      </a:pPr>
                      <a:r>
                        <a:rPr lang="en-US" sz="2000" b="1" spc="-5">
                          <a:latin typeface="Times New Roman"/>
                          <a:ea typeface="SimSun"/>
                        </a:rPr>
                        <a:t>Accuracy</a:t>
                      </a:r>
                      <a:endParaRPr lang="en-US" sz="2000" spc="-5">
                        <a:latin typeface="Times New Roman"/>
                        <a:ea typeface="SimSu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01040">
                <a:tc>
                  <a:txBody>
                    <a:bodyPr/>
                    <a:lstStyle/>
                    <a:p>
                      <a:pPr marL="0" marR="0" indent="0" algn="just">
                        <a:lnSpc>
                          <a:spcPct val="150000"/>
                        </a:lnSpc>
                        <a:spcBef>
                          <a:spcPts val="0"/>
                        </a:spcBef>
                        <a:spcAft>
                          <a:spcPts val="30"/>
                        </a:spcAft>
                      </a:pPr>
                      <a:r>
                        <a:rPr lang="en-US" sz="2000" spc="-5">
                          <a:latin typeface="Times New Roman"/>
                          <a:ea typeface="SimSun"/>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50000"/>
                        </a:lnSpc>
                        <a:spcBef>
                          <a:spcPts val="0"/>
                        </a:spcBef>
                        <a:spcAft>
                          <a:spcPts val="30"/>
                        </a:spcAft>
                      </a:pPr>
                      <a:r>
                        <a:rPr lang="en-US" sz="2000" spc="-5">
                          <a:latin typeface="Times New Roman"/>
                          <a:ea typeface="SimSun"/>
                        </a:rPr>
                        <a:t>Decision Tree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50000"/>
                        </a:lnSpc>
                        <a:spcBef>
                          <a:spcPts val="0"/>
                        </a:spcBef>
                        <a:spcAft>
                          <a:spcPts val="30"/>
                        </a:spcAft>
                      </a:pPr>
                      <a:r>
                        <a:rPr lang="en-US" sz="2000" spc="-5">
                          <a:latin typeface="Times New Roman"/>
                          <a:ea typeface="SimSun"/>
                        </a:rPr>
                        <a:t>91.51%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01040">
                <a:tc>
                  <a:txBody>
                    <a:bodyPr/>
                    <a:lstStyle/>
                    <a:p>
                      <a:pPr marL="0" marR="0" indent="0" algn="just">
                        <a:lnSpc>
                          <a:spcPct val="150000"/>
                        </a:lnSpc>
                        <a:spcBef>
                          <a:spcPts val="0"/>
                        </a:spcBef>
                        <a:spcAft>
                          <a:spcPts val="30"/>
                        </a:spcAft>
                      </a:pPr>
                      <a:r>
                        <a:rPr lang="en-US" sz="2000" spc="-5">
                          <a:latin typeface="Times New Roman"/>
                          <a:ea typeface="SimSun"/>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50000"/>
                        </a:lnSpc>
                        <a:spcBef>
                          <a:spcPts val="0"/>
                        </a:spcBef>
                        <a:spcAft>
                          <a:spcPts val="30"/>
                        </a:spcAft>
                      </a:pPr>
                      <a:r>
                        <a:rPr lang="en-US" sz="2000" spc="-5">
                          <a:latin typeface="Times New Roman"/>
                          <a:ea typeface="SimSun"/>
                        </a:rPr>
                        <a:t>K-Nearest Neighbor</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50000"/>
                        </a:lnSpc>
                        <a:spcBef>
                          <a:spcPts val="0"/>
                        </a:spcBef>
                        <a:spcAft>
                          <a:spcPts val="30"/>
                        </a:spcAft>
                      </a:pPr>
                      <a:r>
                        <a:rPr lang="en-US" sz="2000" spc="-5">
                          <a:latin typeface="Times New Roman"/>
                          <a:ea typeface="SimSun"/>
                        </a:rPr>
                        <a:t>97.69%</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01040">
                <a:tc>
                  <a:txBody>
                    <a:bodyPr/>
                    <a:lstStyle/>
                    <a:p>
                      <a:pPr marL="0" marR="0" indent="0" algn="just">
                        <a:lnSpc>
                          <a:spcPct val="150000"/>
                        </a:lnSpc>
                        <a:spcBef>
                          <a:spcPts val="0"/>
                        </a:spcBef>
                        <a:spcAft>
                          <a:spcPts val="30"/>
                        </a:spcAft>
                      </a:pPr>
                      <a:r>
                        <a:rPr lang="en-US" sz="2000" spc="-5">
                          <a:latin typeface="Times New Roman"/>
                          <a:ea typeface="SimSun"/>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50000"/>
                        </a:lnSpc>
                        <a:spcBef>
                          <a:spcPts val="0"/>
                        </a:spcBef>
                        <a:spcAft>
                          <a:spcPts val="30"/>
                        </a:spcAft>
                      </a:pPr>
                      <a:r>
                        <a:rPr lang="en-US" sz="2000" spc="-5">
                          <a:latin typeface="Times New Roman"/>
                          <a:ea typeface="SimSun"/>
                        </a:rPr>
                        <a:t>Random Forest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50000"/>
                        </a:lnSpc>
                        <a:spcBef>
                          <a:spcPts val="0"/>
                        </a:spcBef>
                        <a:spcAft>
                          <a:spcPts val="30"/>
                        </a:spcAft>
                      </a:pPr>
                      <a:r>
                        <a:rPr lang="en-US" sz="2000" spc="-5">
                          <a:latin typeface="Times New Roman"/>
                          <a:ea typeface="SimSun"/>
                        </a:rPr>
                        <a:t>94.44%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01040">
                <a:tc>
                  <a:txBody>
                    <a:bodyPr/>
                    <a:lstStyle/>
                    <a:p>
                      <a:pPr marL="0" marR="0" indent="0" algn="just">
                        <a:lnSpc>
                          <a:spcPct val="150000"/>
                        </a:lnSpc>
                        <a:spcBef>
                          <a:spcPts val="0"/>
                        </a:spcBef>
                        <a:spcAft>
                          <a:spcPts val="30"/>
                        </a:spcAft>
                      </a:pPr>
                      <a:r>
                        <a:rPr lang="en-US" sz="2000" spc="-5">
                          <a:latin typeface="Times New Roman"/>
                          <a:ea typeface="SimSun"/>
                        </a:rPr>
                        <a:t>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50000"/>
                        </a:lnSpc>
                        <a:spcBef>
                          <a:spcPts val="0"/>
                        </a:spcBef>
                        <a:spcAft>
                          <a:spcPts val="30"/>
                        </a:spcAft>
                      </a:pPr>
                      <a:r>
                        <a:rPr lang="en-US" sz="2000" spc="-5">
                          <a:latin typeface="Times New Roman"/>
                          <a:ea typeface="SimSun"/>
                        </a:rPr>
                        <a:t>ANN (Proposed)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50000"/>
                        </a:lnSpc>
                        <a:spcBef>
                          <a:spcPts val="0"/>
                        </a:spcBef>
                        <a:spcAft>
                          <a:spcPts val="30"/>
                        </a:spcAft>
                      </a:pPr>
                      <a:r>
                        <a:rPr lang="en-US" sz="2000" spc="-5" dirty="0">
                          <a:latin typeface="Times New Roman"/>
                          <a:ea typeface="SimSun"/>
                        </a:rPr>
                        <a:t>98.04%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p:cNvSpPr>
            <a:spLocks noChangeArrowheads="1"/>
          </p:cNvSpPr>
          <p:nvPr/>
        </p:nvSpPr>
        <p:spPr bwMode="auto">
          <a:xfrm>
            <a:off x="3099832" y="6019800"/>
            <a:ext cx="3300968"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algn="ctr" fontAlgn="base">
              <a:spcBef>
                <a:spcPct val="0"/>
              </a:spcBef>
              <a:spcAft>
                <a:spcPct val="0"/>
              </a:spcAft>
            </a:pPr>
            <a:r>
              <a:rPr kumimoji="0" lang="en-US"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Figure 12: </a:t>
            </a:r>
            <a:r>
              <a:rPr lang="en-US" dirty="0" smtClean="0">
                <a:latin typeface="Times New Roman" pitchFamily="18" charset="0"/>
                <a:ea typeface="Calibri" pitchFamily="34" charset="0"/>
                <a:cs typeface="Times New Roman" pitchFamily="18" charset="0"/>
              </a:rPr>
              <a:t>Accuracy Result graph</a:t>
            </a:r>
            <a:endParaRPr kumimoji="0" lang="en-US" sz="2800" b="0" i="0" u="none" strike="noStrike" cap="none" normalizeH="0" baseline="0" dirty="0" smtClean="0">
              <a:ln>
                <a:noFill/>
              </a:ln>
              <a:solidFill>
                <a:schemeClr val="tx1"/>
              </a:solidFill>
              <a:effectLst/>
              <a:latin typeface="Arial" pitchFamily="34" charset="0"/>
              <a:cs typeface="Arial" pitchFamily="34" charset="0"/>
            </a:endParaRPr>
          </a:p>
        </p:txBody>
      </p:sp>
      <p:graphicFrame>
        <p:nvGraphicFramePr>
          <p:cNvPr id="4" name="Chart 3"/>
          <p:cNvGraphicFramePr/>
          <p:nvPr/>
        </p:nvGraphicFramePr>
        <p:xfrm>
          <a:off x="1219200" y="685800"/>
          <a:ext cx="7010400" cy="5105400"/>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92162"/>
          </a:xfrm>
        </p:spPr>
        <p:txBody>
          <a:bodyPr>
            <a:normAutofit fontScale="90000"/>
          </a:bodyPr>
          <a:lstStyle/>
          <a:p>
            <a:pPr marL="457200" indent="-457200">
              <a:lnSpc>
                <a:spcPct val="150000"/>
              </a:lnSpc>
            </a:pPr>
            <a:r>
              <a:rPr lang="en-IN" sz="3200" dirty="0" smtClean="0">
                <a:latin typeface="Times New Roman" pitchFamily="18" charset="0"/>
                <a:cs typeface="Times New Roman" pitchFamily="18" charset="0"/>
              </a:rPr>
              <a:t>CONCLUSION</a:t>
            </a:r>
          </a:p>
        </p:txBody>
      </p:sp>
      <p:sp>
        <p:nvSpPr>
          <p:cNvPr id="3" name="Content Placeholder 2"/>
          <p:cNvSpPr>
            <a:spLocks noGrp="1"/>
          </p:cNvSpPr>
          <p:nvPr>
            <p:ph idx="1"/>
          </p:nvPr>
        </p:nvSpPr>
        <p:spPr>
          <a:xfrm>
            <a:off x="228600" y="838200"/>
            <a:ext cx="8705088" cy="5791200"/>
          </a:xfrm>
        </p:spPr>
        <p:txBody>
          <a:bodyPr>
            <a:noAutofit/>
          </a:bodyPr>
          <a:lstStyle/>
          <a:p>
            <a:pPr algn="just">
              <a:lnSpc>
                <a:spcPct val="150000"/>
              </a:lnSpc>
              <a:buFont typeface="Wingdings" pitchFamily="2" charset="2"/>
              <a:buChar char="Ø"/>
            </a:pPr>
            <a:r>
              <a:rPr lang="en-US" sz="2200" dirty="0" smtClean="0">
                <a:latin typeface="Times New Roman" pitchFamily="18" charset="0"/>
                <a:cs typeface="Times New Roman" pitchFamily="18" charset="0"/>
              </a:rPr>
              <a:t>This research proposed ANN deep learning approach for prediction of phishing. </a:t>
            </a:r>
          </a:p>
          <a:p>
            <a:pPr algn="just">
              <a:lnSpc>
                <a:spcPct val="150000"/>
              </a:lnSpc>
              <a:buFont typeface="Wingdings" pitchFamily="2" charset="2"/>
              <a:buChar char="Ø"/>
            </a:pPr>
            <a:r>
              <a:rPr lang="en-US" sz="2200" dirty="0" smtClean="0">
                <a:latin typeface="Times New Roman" pitchFamily="18" charset="0"/>
                <a:cs typeface="Times New Roman" pitchFamily="18" charset="0"/>
              </a:rPr>
              <a:t>The validation of proposed techniques is done by performing simulation using most relevant publicly available dataset.</a:t>
            </a:r>
          </a:p>
          <a:p>
            <a:pPr algn="just">
              <a:lnSpc>
                <a:spcPct val="150000"/>
              </a:lnSpc>
              <a:buFont typeface="Wingdings" pitchFamily="2" charset="2"/>
              <a:buChar char="Ø"/>
            </a:pPr>
            <a:r>
              <a:rPr lang="en-US" sz="2200" dirty="0" smtClean="0">
                <a:latin typeface="Times New Roman" pitchFamily="18" charset="0"/>
                <a:cs typeface="Times New Roman" pitchFamily="18" charset="0"/>
              </a:rPr>
              <a:t>In this context, the phishing website is used as a dataset.</a:t>
            </a:r>
          </a:p>
          <a:p>
            <a:pPr algn="just">
              <a:lnSpc>
                <a:spcPct val="150000"/>
              </a:lnSpc>
              <a:buFont typeface="Wingdings" pitchFamily="2" charset="2"/>
              <a:buChar char="Ø"/>
            </a:pPr>
            <a:r>
              <a:rPr lang="en-US" sz="2200" dirty="0" smtClean="0">
                <a:latin typeface="Times New Roman" pitchFamily="18" charset="0"/>
                <a:cs typeface="Times New Roman" pitchFamily="18" charset="0"/>
              </a:rPr>
              <a:t>The proposed approach is implemented using python spyder IDE 3.7 software.  </a:t>
            </a:r>
          </a:p>
          <a:p>
            <a:pPr algn="just">
              <a:lnSpc>
                <a:spcPct val="150000"/>
              </a:lnSpc>
              <a:buFont typeface="Wingdings" pitchFamily="2" charset="2"/>
              <a:buChar char="Ø"/>
            </a:pPr>
            <a:r>
              <a:rPr lang="en-US" sz="2200" dirty="0" smtClean="0">
                <a:latin typeface="Times New Roman" pitchFamily="18" charset="0"/>
                <a:cs typeface="Times New Roman" pitchFamily="18" charset="0"/>
              </a:rPr>
              <a:t>The accuracy of the proposed ANN technique is 98.04%. </a:t>
            </a:r>
          </a:p>
          <a:p>
            <a:pPr algn="just">
              <a:lnSpc>
                <a:spcPct val="150000"/>
              </a:lnSpc>
              <a:buFont typeface="Wingdings" pitchFamily="2" charset="2"/>
              <a:buChar char="Ø"/>
            </a:pPr>
            <a:r>
              <a:rPr lang="en-US" sz="2200" dirty="0" smtClean="0">
                <a:latin typeface="Times New Roman" pitchFamily="18" charset="0"/>
                <a:cs typeface="Times New Roman" pitchFamily="18" charset="0"/>
              </a:rPr>
              <a:t>Therefore it is clear from the simulation results; the proposed work is achieved significant better results than existing work. </a:t>
            </a:r>
          </a:p>
          <a:p>
            <a:pPr algn="just">
              <a:lnSpc>
                <a:spcPct val="150000"/>
              </a:lnSpc>
              <a:buFont typeface="Wingdings" pitchFamily="2" charset="2"/>
              <a:buChar char="Ø"/>
            </a:pPr>
            <a:endParaRPr lang="en-US" sz="2200" dirty="0" smtClean="0">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020762"/>
          </a:xfrm>
        </p:spPr>
        <p:txBody>
          <a:bodyPr>
            <a:normAutofit/>
          </a:bodyPr>
          <a:lstStyle/>
          <a:p>
            <a:r>
              <a:rPr lang="en-IN" sz="3200" dirty="0" smtClean="0">
                <a:latin typeface="Times New Roman" pitchFamily="18" charset="0"/>
                <a:cs typeface="Times New Roman" pitchFamily="18" charset="0"/>
              </a:rPr>
              <a:t>FUTURE SCOPE</a:t>
            </a:r>
            <a:endParaRPr lang="en-US" sz="3200" dirty="0">
              <a:latin typeface="Times New Roman" pitchFamily="18" charset="0"/>
              <a:cs typeface="Times New Roman" pitchFamily="18" charset="0"/>
            </a:endParaRPr>
          </a:p>
        </p:txBody>
      </p:sp>
      <p:sp>
        <p:nvSpPr>
          <p:cNvPr id="3" name="Content Placeholder 2"/>
          <p:cNvSpPr>
            <a:spLocks noGrp="1"/>
          </p:cNvSpPr>
          <p:nvPr>
            <p:ph idx="1"/>
          </p:nvPr>
        </p:nvSpPr>
        <p:spPr>
          <a:xfrm>
            <a:off x="381000" y="1066800"/>
            <a:ext cx="8382000" cy="5410200"/>
          </a:xfrm>
        </p:spPr>
        <p:txBody>
          <a:bodyPr>
            <a:noAutofit/>
          </a:bodyPr>
          <a:lstStyle/>
          <a:p>
            <a:pPr lvl="0" algn="just">
              <a:lnSpc>
                <a:spcPct val="150000"/>
              </a:lnSpc>
            </a:pPr>
            <a:r>
              <a:rPr lang="en-US" sz="2400" dirty="0" smtClean="0">
                <a:latin typeface="Times New Roman" pitchFamily="18" charset="0"/>
                <a:cs typeface="Times New Roman" pitchFamily="18" charset="0"/>
              </a:rPr>
              <a:t>In future, it is possible to provide extensions or modifications to the proposed classification algorithms to achieve further increased performance.</a:t>
            </a:r>
          </a:p>
          <a:p>
            <a:pPr lvl="0" algn="just">
              <a:lnSpc>
                <a:spcPct val="150000"/>
              </a:lnSpc>
            </a:pPr>
            <a:r>
              <a:rPr lang="en-US" sz="2400" dirty="0" smtClean="0">
                <a:latin typeface="Times New Roman" pitchFamily="18" charset="0"/>
                <a:cs typeface="Times New Roman" pitchFamily="18" charset="0"/>
              </a:rPr>
              <a:t>Consider different dataset with the some novel approach.</a:t>
            </a:r>
          </a:p>
          <a:p>
            <a:pPr lvl="0" algn="just">
              <a:lnSpc>
                <a:spcPct val="150000"/>
              </a:lnSpc>
            </a:pPr>
            <a:r>
              <a:rPr lang="en-US" sz="2400" dirty="0" smtClean="0">
                <a:latin typeface="Times New Roman" pitchFamily="18" charset="0"/>
                <a:cs typeface="Times New Roman" pitchFamily="18" charset="0"/>
              </a:rPr>
              <a:t>Make a prediction model real time with help of advance software and analysis.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76200"/>
            <a:ext cx="8686800" cy="838200"/>
          </a:xfrm>
        </p:spPr>
        <p:txBody>
          <a:bodyPr>
            <a:normAutofit/>
          </a:bodyPr>
          <a:lstStyle/>
          <a:p>
            <a:r>
              <a:rPr lang="en-US" sz="3200" dirty="0" smtClean="0">
                <a:latin typeface="Times New Roman" pitchFamily="18" charset="0"/>
                <a:cs typeface="Times New Roman" pitchFamily="18" charset="0"/>
              </a:rPr>
              <a:t>REFERENCES</a:t>
            </a:r>
            <a:endParaRPr lang="en-US" sz="3200" dirty="0">
              <a:latin typeface="Times New Roman" pitchFamily="18" charset="0"/>
              <a:cs typeface="Times New Roman" pitchFamily="18" charset="0"/>
            </a:endParaRPr>
          </a:p>
        </p:txBody>
      </p:sp>
      <p:sp>
        <p:nvSpPr>
          <p:cNvPr id="4" name="Content Placeholder 3"/>
          <p:cNvSpPr>
            <a:spLocks noGrp="1"/>
          </p:cNvSpPr>
          <p:nvPr>
            <p:ph idx="1"/>
          </p:nvPr>
        </p:nvSpPr>
        <p:spPr>
          <a:xfrm>
            <a:off x="152400" y="533400"/>
            <a:ext cx="8839200" cy="5410200"/>
          </a:xfrm>
        </p:spPr>
        <p:txBody>
          <a:bodyPr>
            <a:noAutofit/>
          </a:bodyPr>
          <a:lstStyle/>
          <a:p>
            <a:pPr lvl="0" algn="just"/>
            <a:r>
              <a:rPr lang="en-US" sz="1800" dirty="0" smtClean="0">
                <a:latin typeface="Times New Roman" pitchFamily="18" charset="0"/>
                <a:cs typeface="Times New Roman" pitchFamily="18" charset="0"/>
              </a:rPr>
              <a:t>F. </a:t>
            </a:r>
            <a:r>
              <a:rPr lang="en-US" sz="1800" dirty="0" err="1" smtClean="0">
                <a:latin typeface="Times New Roman" pitchFamily="18" charset="0"/>
                <a:cs typeface="Times New Roman" pitchFamily="18" charset="0"/>
              </a:rPr>
              <a:t>Yahya</a:t>
            </a:r>
            <a:r>
              <a:rPr lang="en-US" sz="1800" dirty="0" smtClean="0">
                <a:latin typeface="Times New Roman" pitchFamily="18" charset="0"/>
                <a:cs typeface="Times New Roman" pitchFamily="18" charset="0"/>
              </a:rPr>
              <a:t> et al., "Detection of </a:t>
            </a:r>
            <a:r>
              <a:rPr lang="en-US" sz="1800" dirty="0" err="1" smtClean="0">
                <a:latin typeface="Times New Roman" pitchFamily="18" charset="0"/>
                <a:cs typeface="Times New Roman" pitchFamily="18" charset="0"/>
              </a:rPr>
              <a:t>Phising</a:t>
            </a:r>
            <a:r>
              <a:rPr lang="en-US" sz="1800" dirty="0" smtClean="0">
                <a:latin typeface="Times New Roman" pitchFamily="18" charset="0"/>
                <a:cs typeface="Times New Roman" pitchFamily="18" charset="0"/>
              </a:rPr>
              <a:t> Websites using Machine Learning Approaches," 2021 International Conference on Data Science and Its Applications (</a:t>
            </a:r>
            <a:r>
              <a:rPr lang="en-US" sz="1800" dirty="0" err="1" smtClean="0">
                <a:latin typeface="Times New Roman" pitchFamily="18" charset="0"/>
                <a:cs typeface="Times New Roman" pitchFamily="18" charset="0"/>
              </a:rPr>
              <a:t>ICoDSA</a:t>
            </a:r>
            <a:r>
              <a:rPr lang="en-US" sz="1800" dirty="0" smtClean="0">
                <a:latin typeface="Times New Roman" pitchFamily="18" charset="0"/>
                <a:cs typeface="Times New Roman" pitchFamily="18" charset="0"/>
              </a:rPr>
              <a:t>), 2021, pp. 40-47, </a:t>
            </a:r>
            <a:r>
              <a:rPr lang="en-US" sz="1800" dirty="0" err="1" smtClean="0">
                <a:latin typeface="Times New Roman" pitchFamily="18" charset="0"/>
                <a:cs typeface="Times New Roman" pitchFamily="18" charset="0"/>
              </a:rPr>
              <a:t>doi</a:t>
            </a:r>
            <a:r>
              <a:rPr lang="en-US" sz="1800" dirty="0" smtClean="0">
                <a:latin typeface="Times New Roman" pitchFamily="18" charset="0"/>
                <a:cs typeface="Times New Roman" pitchFamily="18" charset="0"/>
              </a:rPr>
              <a:t>: 10.1109/ICoDSA53588.2021.9617482.</a:t>
            </a:r>
          </a:p>
          <a:p>
            <a:pPr lvl="0" algn="just"/>
            <a:r>
              <a:rPr lang="en-US" sz="1800" dirty="0" smtClean="0">
                <a:latin typeface="Times New Roman" pitchFamily="18" charset="0"/>
                <a:cs typeface="Times New Roman" pitchFamily="18" charset="0"/>
              </a:rPr>
              <a:t>K. S. </a:t>
            </a:r>
            <a:r>
              <a:rPr lang="en-US" sz="1800" dirty="0" err="1" smtClean="0">
                <a:latin typeface="Times New Roman" pitchFamily="18" charset="0"/>
                <a:cs typeface="Times New Roman" pitchFamily="18" charset="0"/>
              </a:rPr>
              <a:t>Swarnalatha</a:t>
            </a:r>
            <a:r>
              <a:rPr lang="en-US" sz="1800" dirty="0" smtClean="0">
                <a:latin typeface="Times New Roman" pitchFamily="18" charset="0"/>
                <a:cs typeface="Times New Roman" pitchFamily="18" charset="0"/>
              </a:rPr>
              <a:t>, K. C. </a:t>
            </a:r>
            <a:r>
              <a:rPr lang="en-US" sz="1800" dirty="0" err="1" smtClean="0">
                <a:latin typeface="Times New Roman" pitchFamily="18" charset="0"/>
                <a:cs typeface="Times New Roman" pitchFamily="18" charset="0"/>
              </a:rPr>
              <a:t>Ramchandra</a:t>
            </a:r>
            <a:r>
              <a:rPr lang="en-US" sz="1800" dirty="0" smtClean="0">
                <a:latin typeface="Times New Roman" pitchFamily="18" charset="0"/>
                <a:cs typeface="Times New Roman" pitchFamily="18" charset="0"/>
              </a:rPr>
              <a:t>, K. </a:t>
            </a:r>
            <a:r>
              <a:rPr lang="en-US" sz="1800" dirty="0" err="1" smtClean="0">
                <a:latin typeface="Times New Roman" pitchFamily="18" charset="0"/>
                <a:cs typeface="Times New Roman" pitchFamily="18" charset="0"/>
              </a:rPr>
              <a:t>Ansari</a:t>
            </a:r>
            <a:r>
              <a:rPr lang="en-US" sz="1800" dirty="0" smtClean="0">
                <a:latin typeface="Times New Roman" pitchFamily="18" charset="0"/>
                <a:cs typeface="Times New Roman" pitchFamily="18" charset="0"/>
              </a:rPr>
              <a:t>, L. </a:t>
            </a:r>
            <a:r>
              <a:rPr lang="en-US" sz="1800" dirty="0" err="1" smtClean="0">
                <a:latin typeface="Times New Roman" pitchFamily="18" charset="0"/>
                <a:cs typeface="Times New Roman" pitchFamily="18" charset="0"/>
              </a:rPr>
              <a:t>Ojha</a:t>
            </a:r>
            <a:r>
              <a:rPr lang="en-US" sz="1800" dirty="0" smtClean="0">
                <a:latin typeface="Times New Roman" pitchFamily="18" charset="0"/>
                <a:cs typeface="Times New Roman" pitchFamily="18" charset="0"/>
              </a:rPr>
              <a:t> and S. S. Sharma, "Real-Time Threat Intelligence-Block </a:t>
            </a:r>
            <a:r>
              <a:rPr lang="en-US" sz="1800" dirty="0" err="1" smtClean="0">
                <a:latin typeface="Times New Roman" pitchFamily="18" charset="0"/>
                <a:cs typeface="Times New Roman" pitchFamily="18" charset="0"/>
              </a:rPr>
              <a:t>Phising</a:t>
            </a:r>
            <a:r>
              <a:rPr lang="en-US" sz="1800" dirty="0" smtClean="0">
                <a:latin typeface="Times New Roman" pitchFamily="18" charset="0"/>
                <a:cs typeface="Times New Roman" pitchFamily="18" charset="0"/>
              </a:rPr>
              <a:t> Attacks," 2021 IEEE International Conference on Computation System and Information Technology for Sustainable Solutions (CSITSS), 2021, pp. 1-6, </a:t>
            </a:r>
            <a:r>
              <a:rPr lang="en-US" sz="1800" dirty="0" err="1" smtClean="0">
                <a:latin typeface="Times New Roman" pitchFamily="18" charset="0"/>
                <a:cs typeface="Times New Roman" pitchFamily="18" charset="0"/>
              </a:rPr>
              <a:t>doi</a:t>
            </a:r>
            <a:r>
              <a:rPr lang="en-US" sz="1800" dirty="0" smtClean="0">
                <a:latin typeface="Times New Roman" pitchFamily="18" charset="0"/>
                <a:cs typeface="Times New Roman" pitchFamily="18" charset="0"/>
              </a:rPr>
              <a:t>: 10.1109/CSITSS54238.2021.9683237.</a:t>
            </a:r>
          </a:p>
          <a:p>
            <a:pPr lvl="0" algn="just"/>
            <a:r>
              <a:rPr lang="en-US" sz="1800" dirty="0" smtClean="0">
                <a:latin typeface="Times New Roman" pitchFamily="18" charset="0"/>
                <a:cs typeface="Times New Roman" pitchFamily="18" charset="0"/>
              </a:rPr>
              <a:t>S. M. </a:t>
            </a:r>
            <a:r>
              <a:rPr lang="en-US" sz="1800" dirty="0" err="1" smtClean="0">
                <a:latin typeface="Times New Roman" pitchFamily="18" charset="0"/>
                <a:cs typeface="Times New Roman" pitchFamily="18" charset="0"/>
              </a:rPr>
              <a:t>Istiaque</a:t>
            </a:r>
            <a:r>
              <a:rPr lang="en-US" sz="1800" dirty="0" smtClean="0">
                <a:latin typeface="Times New Roman" pitchFamily="18" charset="0"/>
                <a:cs typeface="Times New Roman" pitchFamily="18" charset="0"/>
              </a:rPr>
              <a:t>, M. T. </a:t>
            </a:r>
            <a:r>
              <a:rPr lang="en-US" sz="1800" dirty="0" err="1" smtClean="0">
                <a:latin typeface="Times New Roman" pitchFamily="18" charset="0"/>
                <a:cs typeface="Times New Roman" pitchFamily="18" charset="0"/>
              </a:rPr>
              <a:t>Tahmid</a:t>
            </a:r>
            <a:r>
              <a:rPr lang="en-US" sz="1800" dirty="0" smtClean="0">
                <a:latin typeface="Times New Roman" pitchFamily="18" charset="0"/>
                <a:cs typeface="Times New Roman" pitchFamily="18" charset="0"/>
              </a:rPr>
              <a:t>, A. I. Khan, Z. A. Hassan and S. </a:t>
            </a:r>
            <a:r>
              <a:rPr lang="en-US" sz="1800" dirty="0" err="1" smtClean="0">
                <a:latin typeface="Times New Roman" pitchFamily="18" charset="0"/>
                <a:cs typeface="Times New Roman" pitchFamily="18" charset="0"/>
              </a:rPr>
              <a:t>Waheed</a:t>
            </a:r>
            <a:r>
              <a:rPr lang="en-US" sz="1800" dirty="0" smtClean="0">
                <a:latin typeface="Times New Roman" pitchFamily="18" charset="0"/>
                <a:cs typeface="Times New Roman" pitchFamily="18" charset="0"/>
              </a:rPr>
              <a:t>, "Artificial Intelligence Based </a:t>
            </a:r>
            <a:r>
              <a:rPr lang="en-US" sz="1800" dirty="0" err="1" smtClean="0">
                <a:latin typeface="Times New Roman" pitchFamily="18" charset="0"/>
                <a:cs typeface="Times New Roman" pitchFamily="18" charset="0"/>
              </a:rPr>
              <a:t>Cybersecurity</a:t>
            </a:r>
            <a:r>
              <a:rPr lang="en-US" sz="1800" dirty="0" smtClean="0">
                <a:latin typeface="Times New Roman" pitchFamily="18" charset="0"/>
                <a:cs typeface="Times New Roman" pitchFamily="18" charset="0"/>
              </a:rPr>
              <a:t>: Two-Step Suitability Test," 2021 IEEE International Conference on Service Operations and Logistics, and Informatics (SOLI), 2021, pp. 1-6, </a:t>
            </a:r>
            <a:r>
              <a:rPr lang="en-US" sz="1800" dirty="0" err="1" smtClean="0">
                <a:latin typeface="Times New Roman" pitchFamily="18" charset="0"/>
                <a:cs typeface="Times New Roman" pitchFamily="18" charset="0"/>
              </a:rPr>
              <a:t>doi</a:t>
            </a:r>
            <a:r>
              <a:rPr lang="en-US" sz="1800" dirty="0" smtClean="0">
                <a:latin typeface="Times New Roman" pitchFamily="18" charset="0"/>
                <a:cs typeface="Times New Roman" pitchFamily="18" charset="0"/>
              </a:rPr>
              <a:t>: 10.1109/SOLI54607.2021.9672437.</a:t>
            </a:r>
          </a:p>
          <a:p>
            <a:pPr lvl="0" algn="just"/>
            <a:r>
              <a:rPr lang="en-US" sz="1800" dirty="0" smtClean="0">
                <a:latin typeface="Times New Roman" pitchFamily="18" charset="0"/>
                <a:cs typeface="Times New Roman" pitchFamily="18" charset="0"/>
              </a:rPr>
              <a:t>R. </a:t>
            </a:r>
            <a:r>
              <a:rPr lang="en-US" sz="1800" dirty="0" err="1" smtClean="0">
                <a:latin typeface="Times New Roman" pitchFamily="18" charset="0"/>
                <a:cs typeface="Times New Roman" pitchFamily="18" charset="0"/>
              </a:rPr>
              <a:t>Yaqoob</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Sanaa</a:t>
            </a:r>
            <a:r>
              <a:rPr lang="en-US" sz="1800" dirty="0" smtClean="0">
                <a:latin typeface="Times New Roman" pitchFamily="18" charset="0"/>
                <a:cs typeface="Times New Roman" pitchFamily="18" charset="0"/>
              </a:rPr>
              <a:t>, M. </a:t>
            </a:r>
            <a:r>
              <a:rPr lang="en-US" sz="1800" dirty="0" err="1" smtClean="0">
                <a:latin typeface="Times New Roman" pitchFamily="18" charset="0"/>
                <a:cs typeface="Times New Roman" pitchFamily="18" charset="0"/>
              </a:rPr>
              <a:t>Haris</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Samadyar</a:t>
            </a:r>
            <a:r>
              <a:rPr lang="en-US" sz="1800" dirty="0" smtClean="0">
                <a:latin typeface="Times New Roman" pitchFamily="18" charset="0"/>
                <a:cs typeface="Times New Roman" pitchFamily="18" charset="0"/>
              </a:rPr>
              <a:t> and M. A. Shah, "The Price Scraping </a:t>
            </a:r>
            <a:r>
              <a:rPr lang="en-US" sz="1800" dirty="0" err="1" smtClean="0">
                <a:latin typeface="Times New Roman" pitchFamily="18" charset="0"/>
                <a:cs typeface="Times New Roman" pitchFamily="18" charset="0"/>
              </a:rPr>
              <a:t>Bot</a:t>
            </a:r>
            <a:r>
              <a:rPr lang="en-US" sz="1800" dirty="0" smtClean="0">
                <a:latin typeface="Times New Roman" pitchFamily="18" charset="0"/>
                <a:cs typeface="Times New Roman" pitchFamily="18" charset="0"/>
              </a:rPr>
              <a:t> Threat on E-commerce Store Using Custom XPATH Technique," 2021 26th International Conference on Automation and Computing (ICAC), 2021, pp. 1-6, </a:t>
            </a:r>
            <a:r>
              <a:rPr lang="en-US" sz="1800" dirty="0" err="1" smtClean="0">
                <a:latin typeface="Times New Roman" pitchFamily="18" charset="0"/>
                <a:cs typeface="Times New Roman" pitchFamily="18" charset="0"/>
              </a:rPr>
              <a:t>doi</a:t>
            </a:r>
            <a:r>
              <a:rPr lang="en-US" sz="1800" dirty="0" smtClean="0">
                <a:latin typeface="Times New Roman" pitchFamily="18" charset="0"/>
                <a:cs typeface="Times New Roman" pitchFamily="18" charset="0"/>
              </a:rPr>
              <a:t>: 10.23919/ICAC50006.2021.9594223.</a:t>
            </a:r>
          </a:p>
          <a:p>
            <a:pPr lvl="0" algn="just"/>
            <a:r>
              <a:rPr lang="en-US" sz="1800" dirty="0" smtClean="0">
                <a:latin typeface="Times New Roman" pitchFamily="18" charset="0"/>
                <a:cs typeface="Times New Roman" pitchFamily="18" charset="0"/>
              </a:rPr>
              <a:t>M. Min, J. J. Lee, H. Park and K. Lee, "</a:t>
            </a:r>
            <a:r>
              <a:rPr lang="en-US" sz="1800" dirty="0" err="1" smtClean="0">
                <a:latin typeface="Times New Roman" pitchFamily="18" charset="0"/>
                <a:cs typeface="Times New Roman" pitchFamily="18" charset="0"/>
              </a:rPr>
              <a:t>Honeypot</a:t>
            </a:r>
            <a:r>
              <a:rPr lang="en-US" sz="1800" dirty="0" smtClean="0">
                <a:latin typeface="Times New Roman" pitchFamily="18" charset="0"/>
                <a:cs typeface="Times New Roman" pitchFamily="18" charset="0"/>
              </a:rPr>
              <a:t> System for Automatic Reporting of Illegal Online Gambling Sites Utilizing SMS Spam," 2021 World Automation Congress (WAC), 2021, pp. 180-185, </a:t>
            </a:r>
            <a:r>
              <a:rPr lang="en-US" sz="1800" dirty="0" err="1" smtClean="0">
                <a:latin typeface="Times New Roman" pitchFamily="18" charset="0"/>
                <a:cs typeface="Times New Roman" pitchFamily="18" charset="0"/>
              </a:rPr>
              <a:t>doi</a:t>
            </a:r>
            <a:r>
              <a:rPr lang="en-US" sz="1800" dirty="0" smtClean="0">
                <a:latin typeface="Times New Roman" pitchFamily="18" charset="0"/>
                <a:cs typeface="Times New Roman" pitchFamily="18" charset="0"/>
              </a:rPr>
              <a:t>: 10.23919/WAC50355.2021.9559478.</a:t>
            </a:r>
          </a:p>
          <a:p>
            <a:pPr lvl="0" algn="just"/>
            <a:r>
              <a:rPr lang="en-US" sz="1800" dirty="0" smtClean="0">
                <a:latin typeface="Times New Roman" pitchFamily="18" charset="0"/>
                <a:cs typeface="Times New Roman" pitchFamily="18" charset="0"/>
              </a:rPr>
              <a:t>H. Dao, J. </a:t>
            </a:r>
            <a:r>
              <a:rPr lang="en-US" sz="1800" dirty="0" err="1" smtClean="0">
                <a:latin typeface="Times New Roman" pitchFamily="18" charset="0"/>
                <a:cs typeface="Times New Roman" pitchFamily="18" charset="0"/>
              </a:rPr>
              <a:t>Mazel</a:t>
            </a:r>
            <a:r>
              <a:rPr lang="en-US" sz="1800" dirty="0" smtClean="0">
                <a:latin typeface="Times New Roman" pitchFamily="18" charset="0"/>
                <a:cs typeface="Times New Roman" pitchFamily="18" charset="0"/>
              </a:rPr>
              <a:t> and K. Fukuda, "CNAME Cloaking-Based Tracking on the Web: Characterization, Detection, and Protection," in IEEE Transactions on Network and Service Management, vol. 18, no. 3, pp. 3873-3888, Sept. 2021, </a:t>
            </a:r>
            <a:r>
              <a:rPr lang="en-US" sz="1800" dirty="0" err="1" smtClean="0">
                <a:latin typeface="Times New Roman" pitchFamily="18" charset="0"/>
                <a:cs typeface="Times New Roman" pitchFamily="18" charset="0"/>
              </a:rPr>
              <a:t>doi</a:t>
            </a:r>
            <a:r>
              <a:rPr lang="en-US" sz="1800" dirty="0" smtClean="0">
                <a:latin typeface="Times New Roman" pitchFamily="18" charset="0"/>
                <a:cs typeface="Times New Roman" pitchFamily="18" charset="0"/>
              </a:rPr>
              <a:t>: 10.1109/TNSM.2021.3072874.</a:t>
            </a:r>
          </a:p>
        </p:txBody>
      </p:sp>
    </p:spTree>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152400" y="381000"/>
            <a:ext cx="8839200" cy="6019800"/>
          </a:xfrm>
        </p:spPr>
        <p:txBody>
          <a:bodyPr>
            <a:noAutofit/>
          </a:bodyPr>
          <a:lstStyle/>
          <a:p>
            <a:pPr lvl="0" algn="just"/>
            <a:r>
              <a:rPr lang="vi-VN" sz="1800" dirty="0" smtClean="0">
                <a:latin typeface="Times New Roman" pitchFamily="18" charset="0"/>
                <a:cs typeface="Times New Roman" pitchFamily="18" charset="0"/>
              </a:rPr>
              <a:t>R. Nanjundappa et al., "AWAF: AI Enabled Web Contents Authoring Framework," 2020 IEEE 17th India Council International Conference (INDICON), 2020, pp. 1-5, doi: 10.1109/INDICON49873.2020.9342385.</a:t>
            </a:r>
          </a:p>
          <a:p>
            <a:pPr lvl="0" algn="just"/>
            <a:r>
              <a:rPr lang="vi-VN" sz="1800" dirty="0" smtClean="0">
                <a:latin typeface="Times New Roman" pitchFamily="18" charset="0"/>
                <a:cs typeface="Times New Roman" pitchFamily="18" charset="0"/>
              </a:rPr>
              <a:t>K. E. Aydın and S. Baday, "Machine Learning for Web Content Classification," 2020 Innovations in Intelligent Systems and Applications Conference (ASYU), 2020, pp. 1-7, doi: 10.1109/ASYU50717.2020.9259833.</a:t>
            </a:r>
          </a:p>
          <a:p>
            <a:pPr lvl="0" algn="just"/>
            <a:r>
              <a:rPr lang="vi-VN" sz="1800" dirty="0" smtClean="0">
                <a:latin typeface="Times New Roman" pitchFamily="18" charset="0"/>
                <a:cs typeface="Times New Roman" pitchFamily="18" charset="0"/>
              </a:rPr>
              <a:t>U. Iqbal, P. Snyder, S. Zhu, B. Livshits, Z. Qian and Z. Shafiq, "AdGraph: A Graph-Based Approach to Ad and Tracker Blocking," 2020 IEEE Symposium on Security and Privacy (SP), 2020, pp. 763-776, doi: 10.1109/SP40000.2020.00005.</a:t>
            </a:r>
          </a:p>
          <a:p>
            <a:pPr lvl="0" algn="just"/>
            <a:r>
              <a:rPr lang="vi-VN" sz="1800" dirty="0" smtClean="0">
                <a:latin typeface="Times New Roman" pitchFamily="18" charset="0"/>
                <a:cs typeface="Times New Roman" pitchFamily="18" charset="0"/>
              </a:rPr>
              <a:t>N. Megha, K. R. Remesh Babu and E. Sherly, "An Intelligent System for Phishing Attack Detection and Prevention," 2019 International Conference on Communication and Electronics Systems (ICCES), 2019, pp. 1577-1582, doi: 10.1109/ICCES45898.2019.9002204.</a:t>
            </a:r>
          </a:p>
          <a:p>
            <a:pPr lvl="0" algn="just"/>
            <a:r>
              <a:rPr lang="vi-VN" sz="1800" dirty="0" smtClean="0">
                <a:latin typeface="Times New Roman" pitchFamily="18" charset="0"/>
                <a:cs typeface="Times New Roman" pitchFamily="18" charset="0"/>
              </a:rPr>
              <a:t>S. S. Hashmi, M. Ikram and M. A. Kaafar, "A Longitudinal Analysis of Online Ad-Blocking Blacklists," 2019 IEEE 44th LCN Symposium on Emerging Topics in Networking (LCN Symposium), 2019, pp. 158-165, doi: 10.1109/LCNSymposium47956.2019.9000671.</a:t>
            </a:r>
          </a:p>
          <a:p>
            <a:pPr lvl="0" algn="just"/>
            <a:r>
              <a:rPr lang="vi-VN" sz="1800" dirty="0" smtClean="0">
                <a:latin typeface="Times New Roman" pitchFamily="18" charset="0"/>
                <a:cs typeface="Times New Roman" pitchFamily="18" charset="0"/>
              </a:rPr>
              <a:t>T. Vo and C. Jaiswal, "ADREMOVER: THE IMPROVED MACHINE LEARNING APPROACH FOR BLOCKING ADS," 2019 IEEE 10th Annual Ubiquitous Computing, Electronics &amp; Mobile Communication Conference (UEMCON), 2019, pp. 1-4, doi: 10.1109/UEMCON47517.2019.8993052.</a:t>
            </a:r>
          </a:p>
        </p:txBody>
      </p:sp>
    </p:spTree>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152400" y="381000"/>
            <a:ext cx="8839200" cy="6019800"/>
          </a:xfrm>
        </p:spPr>
        <p:txBody>
          <a:bodyPr>
            <a:noAutofit/>
          </a:bodyPr>
          <a:lstStyle/>
          <a:p>
            <a:pPr lvl="0" algn="just"/>
            <a:r>
              <a:rPr lang="vi-VN" sz="2000" dirty="0" smtClean="0">
                <a:latin typeface="Times New Roman" pitchFamily="18" charset="0"/>
                <a:cs typeface="Times New Roman" pitchFamily="18" charset="0"/>
              </a:rPr>
              <a:t>M. Karabatak and T. Mustafa, "Performance comparison of classifiers on reduced phishing website dataset," 2018 6th International Symposium on Digital Forensic and Security (ISDFS), 2018, pp. 1-5, doi: 10.1109/ISDFS.2018.8355357.</a:t>
            </a:r>
          </a:p>
          <a:p>
            <a:pPr lvl="0" algn="just"/>
            <a:r>
              <a:rPr lang="vi-VN" sz="2000" dirty="0" smtClean="0">
                <a:latin typeface="Times New Roman" pitchFamily="18" charset="0"/>
                <a:cs typeface="Times New Roman" pitchFamily="18" charset="0"/>
              </a:rPr>
              <a:t>G. Chakraborty and T. T. Lin, "A URL address aware classification of malicious websites for online security during web-surfing," 2017 IEEE International Conference on Advanced Networks and Telecommunications Systems (ANTS), 2017, pp. 1-6, doi: 10.1109/ANTS.2017.8384155.</a:t>
            </a:r>
          </a:p>
          <a:p>
            <a:pPr lvl="0" algn="just"/>
            <a:r>
              <a:rPr lang="vi-VN" sz="2000" dirty="0" smtClean="0">
                <a:latin typeface="Times New Roman" pitchFamily="18" charset="0"/>
                <a:cs typeface="Times New Roman" pitchFamily="18" charset="0"/>
              </a:rPr>
              <a:t>F. Ali et al., "A Fuzzy Ontology and SVM–Based Web Content Classification System," in IEEE Access, vol. 5, pp. 25781-25797, 2017, doi: 10.1109/ACCESS.2017.2768564.</a:t>
            </a:r>
          </a:p>
          <a:p>
            <a:pPr lvl="0" algn="just"/>
            <a:r>
              <a:rPr lang="vi-VN" sz="2000" dirty="0" smtClean="0">
                <a:latin typeface="Times New Roman" pitchFamily="18" charset="0"/>
                <a:cs typeface="Times New Roman" pitchFamily="18" charset="0"/>
              </a:rPr>
              <a:t>T. Dinh, T. Ngo and D. Vu, "A Model for Automatically Detecting and Blocking Pornographic Websites," 2015 Seventh International Conference on Knowledge and Systems Engineering (KSE), 2015, pp. 244-249, doi: 10.1109/KSE.2015.77.</a:t>
            </a:r>
          </a:p>
          <a:p>
            <a:pPr lvl="0" algn="just"/>
            <a:r>
              <a:rPr lang="vi-VN" sz="2000" dirty="0" smtClean="0">
                <a:latin typeface="Times New Roman" pitchFamily="18" charset="0"/>
                <a:cs typeface="Times New Roman" pitchFamily="18" charset="0"/>
              </a:rPr>
              <a:t>S. Khurshid, S. Khan and S. Bashir, "Text-Based Intelligent Content Filtering on Social Platforms," 2014 12th International Conference on Frontiers of Information Technology, 2014, pp. 232-237, doi: 10.1109/FIT.2014.51.</a:t>
            </a:r>
          </a:p>
        </p:txBody>
      </p:sp>
    </p:spTree>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579437"/>
            <a:ext cx="8610600" cy="4525963"/>
          </a:xfrm>
        </p:spPr>
        <p:txBody>
          <a:bodyPr>
            <a:noAutofit/>
          </a:bodyPr>
          <a:lstStyle/>
          <a:p>
            <a:pPr algn="just"/>
            <a:r>
              <a:rPr lang="vi-VN" sz="2000" dirty="0" smtClean="0">
                <a:latin typeface="Times New Roman" pitchFamily="18" charset="0"/>
                <a:cs typeface="Times New Roman" pitchFamily="18" charset="0"/>
              </a:rPr>
              <a:t>T. A. Almeida and T. C. Alberto, "Learning to Block Undesired Comments in the Blogosphere," 2013 12th International Conference on Machine Learning and Applications, 2013, pp. 261-266, doi: 10.1109/ICMLA.2013.133.</a:t>
            </a:r>
          </a:p>
          <a:p>
            <a:pPr lvl="0" algn="just"/>
            <a:r>
              <a:rPr lang="en-US" sz="2000" dirty="0" smtClean="0">
                <a:latin typeface="Times New Roman" pitchFamily="18" charset="0"/>
                <a:cs typeface="Times New Roman" pitchFamily="18" charset="0"/>
              </a:rPr>
              <a:t>M. Ahmad and R. F. </a:t>
            </a:r>
            <a:r>
              <a:rPr lang="en-US" sz="2000" dirty="0" err="1" smtClean="0">
                <a:latin typeface="Times New Roman" pitchFamily="18" charset="0"/>
                <a:cs typeface="Times New Roman" pitchFamily="18" charset="0"/>
              </a:rPr>
              <a:t>Munir</a:t>
            </a:r>
            <a:r>
              <a:rPr lang="en-US" sz="2000" dirty="0" smtClean="0">
                <a:latin typeface="Times New Roman" pitchFamily="18" charset="0"/>
                <a:cs typeface="Times New Roman" pitchFamily="18" charset="0"/>
              </a:rPr>
              <a:t>, "</a:t>
            </a:r>
            <a:r>
              <a:rPr lang="en-US" sz="2000" dirty="0" err="1" smtClean="0">
                <a:latin typeface="Times New Roman" pitchFamily="18" charset="0"/>
                <a:cs typeface="Times New Roman" pitchFamily="18" charset="0"/>
              </a:rPr>
              <a:t>Malfree</a:t>
            </a:r>
            <a:r>
              <a:rPr lang="en-US" sz="2000" dirty="0" smtClean="0">
                <a:latin typeface="Times New Roman" pitchFamily="18" charset="0"/>
                <a:cs typeface="Times New Roman" pitchFamily="18" charset="0"/>
              </a:rPr>
              <a:t> web server response," 2011 7th International Conference on Emerging Technologies, 2011, pp. 1-6, </a:t>
            </a:r>
            <a:r>
              <a:rPr lang="en-US" sz="2000" dirty="0" err="1" smtClean="0">
                <a:latin typeface="Times New Roman" pitchFamily="18" charset="0"/>
                <a:cs typeface="Times New Roman" pitchFamily="18" charset="0"/>
              </a:rPr>
              <a:t>doi</a:t>
            </a:r>
            <a:r>
              <a:rPr lang="en-US" sz="2000" dirty="0" smtClean="0">
                <a:latin typeface="Times New Roman" pitchFamily="18" charset="0"/>
                <a:cs typeface="Times New Roman" pitchFamily="18" charset="0"/>
              </a:rPr>
              <a:t>: 10.1109/ICET.2011.6048478.</a:t>
            </a:r>
          </a:p>
          <a:p>
            <a:pPr lvl="0" algn="just"/>
            <a:r>
              <a:rPr lang="en-US" sz="2000" dirty="0" smtClean="0">
                <a:latin typeface="Times New Roman" pitchFamily="18" charset="0"/>
                <a:cs typeface="Times New Roman" pitchFamily="18" charset="0"/>
              </a:rPr>
              <a:t>Q. Chen, Y. Wu and X. Chen, "Research on Customers Demand Forecasting for E-business Web Site Based on LS-SVM," 2008 International Symposium on Electronic Commerce and Security, 2008, pp. 66-70, </a:t>
            </a:r>
            <a:r>
              <a:rPr lang="en-US" sz="2000" dirty="0" err="1" smtClean="0">
                <a:latin typeface="Times New Roman" pitchFamily="18" charset="0"/>
                <a:cs typeface="Times New Roman" pitchFamily="18" charset="0"/>
              </a:rPr>
              <a:t>doi</a:t>
            </a:r>
            <a:r>
              <a:rPr lang="en-US" sz="2000" dirty="0" smtClean="0">
                <a:latin typeface="Times New Roman" pitchFamily="18" charset="0"/>
                <a:cs typeface="Times New Roman" pitchFamily="18" charset="0"/>
              </a:rPr>
              <a:t>: 10.1109/ISECS.2008.204.</a:t>
            </a:r>
          </a:p>
          <a:p>
            <a:pPr lvl="0" algn="just"/>
            <a:r>
              <a:rPr lang="en-US" sz="2000" dirty="0" smtClean="0">
                <a:latin typeface="Times New Roman" pitchFamily="18" charset="0"/>
                <a:cs typeface="Times New Roman" pitchFamily="18" charset="0"/>
              </a:rPr>
              <a:t>B. T. Logan, U. </a:t>
            </a:r>
            <a:r>
              <a:rPr lang="en-US" sz="2000" dirty="0" err="1" smtClean="0">
                <a:latin typeface="Times New Roman" pitchFamily="18" charset="0"/>
                <a:cs typeface="Times New Roman" pitchFamily="18" charset="0"/>
              </a:rPr>
              <a:t>Karaoz</a:t>
            </a:r>
            <a:r>
              <a:rPr lang="en-US" sz="2000" dirty="0" smtClean="0">
                <a:latin typeface="Times New Roman" pitchFamily="18" charset="0"/>
                <a:cs typeface="Times New Roman" pitchFamily="18" charset="0"/>
              </a:rPr>
              <a:t>, P. J. Moreno, Z. </a:t>
            </a:r>
            <a:r>
              <a:rPr lang="en-US" sz="2000" dirty="0" err="1" smtClean="0">
                <a:latin typeface="Times New Roman" pitchFamily="18" charset="0"/>
                <a:cs typeface="Times New Roman" pitchFamily="18" charset="0"/>
              </a:rPr>
              <a:t>Weng</a:t>
            </a:r>
            <a:r>
              <a:rPr lang="en-US" sz="2000" dirty="0" smtClean="0">
                <a:latin typeface="Times New Roman" pitchFamily="18" charset="0"/>
                <a:cs typeface="Times New Roman" pitchFamily="18" charset="0"/>
              </a:rPr>
              <a:t> and S. </a:t>
            </a:r>
            <a:r>
              <a:rPr lang="en-US" sz="2000" dirty="0" err="1" smtClean="0">
                <a:latin typeface="Times New Roman" pitchFamily="18" charset="0"/>
                <a:cs typeface="Times New Roman" pitchFamily="18" charset="0"/>
              </a:rPr>
              <a:t>Kasif</a:t>
            </a:r>
            <a:r>
              <a:rPr lang="en-US" sz="2000" dirty="0" smtClean="0">
                <a:latin typeface="Times New Roman" pitchFamily="18" charset="0"/>
                <a:cs typeface="Times New Roman" pitchFamily="18" charset="0"/>
              </a:rPr>
              <a:t>, "Protein seer: a Web server for protein homology detection," The 26th Annual International Conference of the IEEE Engineering in Medicine and Biology Society, 2004, pp. 3064-3067, </a:t>
            </a:r>
            <a:r>
              <a:rPr lang="en-US" sz="2000" dirty="0" err="1" smtClean="0">
                <a:latin typeface="Times New Roman" pitchFamily="18" charset="0"/>
                <a:cs typeface="Times New Roman" pitchFamily="18" charset="0"/>
              </a:rPr>
              <a:t>doi</a:t>
            </a:r>
            <a:r>
              <a:rPr lang="en-US" sz="2000" dirty="0" smtClean="0">
                <a:latin typeface="Times New Roman" pitchFamily="18" charset="0"/>
                <a:cs typeface="Times New Roman" pitchFamily="18" charset="0"/>
              </a:rPr>
              <a:t>: 10.1109/IEMBS.2004.1403866.</a:t>
            </a:r>
          </a:p>
          <a:p>
            <a:pPr lvl="0" algn="just"/>
            <a:r>
              <a:rPr lang="en-US" sz="2000" dirty="0" smtClean="0">
                <a:latin typeface="Times New Roman" pitchFamily="18" charset="0"/>
                <a:cs typeface="Times New Roman" pitchFamily="18" charset="0"/>
              </a:rPr>
              <a:t>https://www.kaggle.com/datasets/isatish/phishing-dataset-uci-ml-csv?select=uci-ml-phishing-dataset.csv.</a:t>
            </a:r>
          </a:p>
          <a:p>
            <a:pPr algn="just"/>
            <a:endParaRPr lang="en-US" sz="2000" dirty="0">
              <a:latin typeface="Times New Roman" pitchFamily="18" charset="0"/>
              <a:cs typeface="Times New Roman"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Autofit/>
          </a:bodyPr>
          <a:lstStyle/>
          <a:p>
            <a:r>
              <a:rPr lang="en-US" sz="2800" dirty="0" smtClean="0">
                <a:latin typeface="Times New Roman" pitchFamily="18" charset="0"/>
                <a:cs typeface="Times New Roman" pitchFamily="18" charset="0"/>
              </a:rPr>
              <a:t>LIST OF PUBLICATION</a:t>
            </a:r>
            <a:endParaRPr lang="en-US" sz="28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295400"/>
            <a:ext cx="8229600" cy="4525963"/>
          </a:xfrm>
        </p:spPr>
        <p:txBody>
          <a:bodyPr>
            <a:normAutofit fontScale="92500"/>
          </a:bodyPr>
          <a:lstStyle/>
          <a:p>
            <a:pPr algn="just">
              <a:lnSpc>
                <a:spcPct val="150000"/>
              </a:lnSpc>
              <a:buNone/>
            </a:pPr>
            <a:r>
              <a:rPr lang="en-US" sz="2400" dirty="0" smtClean="0">
                <a:latin typeface="Times New Roman" pitchFamily="18" charset="0"/>
                <a:cs typeface="Times New Roman" pitchFamily="18" charset="0"/>
              </a:rPr>
              <a:t>[1] </a:t>
            </a:r>
            <a:r>
              <a:rPr lang="en-US" sz="2400" dirty="0" err="1" smtClean="0">
                <a:latin typeface="Times New Roman" pitchFamily="18" charset="0"/>
                <a:cs typeface="Times New Roman" pitchFamily="18" charset="0"/>
              </a:rPr>
              <a:t>Gaurav</a:t>
            </a:r>
            <a:r>
              <a:rPr lang="en-US" sz="2400" dirty="0" smtClean="0">
                <a:latin typeface="Times New Roman" pitchFamily="18" charset="0"/>
                <a:cs typeface="Times New Roman" pitchFamily="18" charset="0"/>
              </a:rPr>
              <a:t> Tiwari, Prof. </a:t>
            </a:r>
            <a:r>
              <a:rPr lang="en-US" sz="2400" dirty="0" err="1" smtClean="0">
                <a:latin typeface="Times New Roman" pitchFamily="18" charset="0"/>
                <a:cs typeface="Times New Roman" pitchFamily="18" charset="0"/>
              </a:rPr>
              <a:t>Atul</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Barve</a:t>
            </a:r>
            <a:r>
              <a:rPr lang="en-US" sz="2400" dirty="0" smtClean="0">
                <a:latin typeface="Times New Roman" pitchFamily="18" charset="0"/>
                <a:cs typeface="Times New Roman" pitchFamily="18" charset="0"/>
              </a:rPr>
              <a:t> “</a:t>
            </a:r>
            <a:r>
              <a:rPr lang="en-US" sz="2400" b="1" dirty="0" smtClean="0">
                <a:latin typeface="Times New Roman" pitchFamily="18" charset="0"/>
                <a:cs typeface="Times New Roman" pitchFamily="18" charset="0"/>
              </a:rPr>
              <a:t>Detection of Phishing Websites using Machine Learning Approaches: A Review</a:t>
            </a:r>
            <a:r>
              <a:rPr lang="en-US" sz="2400" dirty="0" smtClean="0">
                <a:latin typeface="Times New Roman" pitchFamily="18" charset="0"/>
                <a:cs typeface="Times New Roman" pitchFamily="18" charset="0"/>
              </a:rPr>
              <a:t>” International Journal of Research and Analytical Reviews, ISSN 2348-1269, Volume 9, Issue 3, September 2022, pp 304-308. </a:t>
            </a:r>
          </a:p>
          <a:p>
            <a:pPr algn="just">
              <a:lnSpc>
                <a:spcPct val="150000"/>
              </a:lnSpc>
              <a:buNone/>
            </a:pPr>
            <a:r>
              <a:rPr lang="en-US" sz="2400" dirty="0" smtClean="0">
                <a:latin typeface="Times New Roman" pitchFamily="18" charset="0"/>
                <a:cs typeface="Times New Roman" pitchFamily="18" charset="0"/>
              </a:rPr>
              <a:t>[2] </a:t>
            </a:r>
            <a:r>
              <a:rPr lang="en-US" sz="2400" dirty="0" err="1" smtClean="0">
                <a:latin typeface="Times New Roman" pitchFamily="18" charset="0"/>
                <a:cs typeface="Times New Roman" pitchFamily="18" charset="0"/>
              </a:rPr>
              <a:t>Gaurav</a:t>
            </a:r>
            <a:r>
              <a:rPr lang="en-US" sz="2400" dirty="0" smtClean="0">
                <a:latin typeface="Times New Roman" pitchFamily="18" charset="0"/>
                <a:cs typeface="Times New Roman" pitchFamily="18" charset="0"/>
              </a:rPr>
              <a:t> Tiwari, Prof. </a:t>
            </a:r>
            <a:r>
              <a:rPr lang="en-US" sz="2400" dirty="0" err="1" smtClean="0">
                <a:latin typeface="Times New Roman" pitchFamily="18" charset="0"/>
                <a:cs typeface="Times New Roman" pitchFamily="18" charset="0"/>
              </a:rPr>
              <a:t>Atul</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Barve</a:t>
            </a:r>
            <a:r>
              <a:rPr lang="en-US" sz="2400" dirty="0" smtClean="0">
                <a:latin typeface="Times New Roman" pitchFamily="18" charset="0"/>
                <a:cs typeface="Times New Roman" pitchFamily="18" charset="0"/>
              </a:rPr>
              <a:t> “</a:t>
            </a:r>
            <a:r>
              <a:rPr lang="en-US" sz="2400" b="1" dirty="0" smtClean="0">
                <a:latin typeface="Times New Roman" pitchFamily="18" charset="0"/>
                <a:cs typeface="Times New Roman" pitchFamily="18" charset="0"/>
              </a:rPr>
              <a:t>Artificial Neural Network Deep Learning Approach for Phishing Websites Prediction</a:t>
            </a:r>
            <a:r>
              <a:rPr lang="en-US" sz="2400" dirty="0" smtClean="0">
                <a:latin typeface="Times New Roman" pitchFamily="18" charset="0"/>
                <a:cs typeface="Times New Roman" pitchFamily="18" charset="0"/>
              </a:rPr>
              <a:t>” International Journal of Computer Applications (0975 – 8887) Volume 184 – No. 51, March 2023, pp 7-11. </a:t>
            </a:r>
            <a:endParaRPr lang="en-US" sz="2400" dirty="0">
              <a:latin typeface="Times New Roman" pitchFamily="18" charset="0"/>
              <a:cs typeface="Times New Roman"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5441</TotalTime>
  <Words>2316</Words>
  <Application>Microsoft Office PowerPoint</Application>
  <PresentationFormat>On-screen Show (4:3)</PresentationFormat>
  <Paragraphs>273</Paragraphs>
  <Slides>38</Slides>
  <Notes>2</Notes>
  <HiddenSlides>0</HiddenSlides>
  <MMClips>0</MMClips>
  <ScaleCrop>false</ScaleCrop>
  <HeadingPairs>
    <vt:vector size="4" baseType="variant">
      <vt:variant>
        <vt:lpstr>Theme</vt:lpstr>
      </vt:variant>
      <vt:variant>
        <vt:i4>1</vt:i4>
      </vt:variant>
      <vt:variant>
        <vt:lpstr>Slide Titles</vt:lpstr>
      </vt:variant>
      <vt:variant>
        <vt:i4>38</vt:i4>
      </vt:variant>
    </vt:vector>
  </HeadingPairs>
  <TitlesOfParts>
    <vt:vector size="39" baseType="lpstr">
      <vt:lpstr>Office Theme</vt:lpstr>
      <vt:lpstr>  </vt:lpstr>
      <vt:lpstr>OUTLINE</vt:lpstr>
      <vt:lpstr>INTRODUCTION</vt:lpstr>
      <vt:lpstr>Cont…</vt:lpstr>
      <vt:lpstr>LITERATURE SURVEY</vt:lpstr>
      <vt:lpstr>Slide 6</vt:lpstr>
      <vt:lpstr>PROBLEM IDENTIFICATION  </vt:lpstr>
      <vt:lpstr>OBJECTIVE </vt:lpstr>
      <vt:lpstr>Slide 9</vt:lpstr>
      <vt:lpstr>METHODOLOGY </vt:lpstr>
      <vt:lpstr>Slide 11</vt:lpstr>
      <vt:lpstr>Artificial Neural Network (ANN)</vt:lpstr>
      <vt:lpstr>Parameters Calculation</vt:lpstr>
      <vt:lpstr>Parameters Calculation</vt:lpstr>
      <vt:lpstr>Parameters Calculation</vt:lpstr>
      <vt:lpstr>Parameters Calculation</vt:lpstr>
      <vt:lpstr>SIMULATION RESULT </vt:lpstr>
      <vt:lpstr>Slide 18</vt:lpstr>
      <vt:lpstr>Slide 19</vt:lpstr>
      <vt:lpstr>Slide 20</vt:lpstr>
      <vt:lpstr>Slide 21</vt:lpstr>
      <vt:lpstr>Slide 22</vt:lpstr>
      <vt:lpstr>Slide 23</vt:lpstr>
      <vt:lpstr>Slide 24</vt:lpstr>
      <vt:lpstr>Slide 25</vt:lpstr>
      <vt:lpstr>Slide 26</vt:lpstr>
      <vt:lpstr>Slide 27</vt:lpstr>
      <vt:lpstr>  Table 2: Simulation Results  </vt:lpstr>
      <vt:lpstr>  Table 3: Result Comparison  </vt:lpstr>
      <vt:lpstr>Slide 30</vt:lpstr>
      <vt:lpstr>CONCLUSION</vt:lpstr>
      <vt:lpstr>FUTURE SCOPE</vt:lpstr>
      <vt:lpstr>REFERENCES</vt:lpstr>
      <vt:lpstr>Slide 34</vt:lpstr>
      <vt:lpstr>Slide 35</vt:lpstr>
      <vt:lpstr>Slide 36</vt:lpstr>
      <vt:lpstr>LIST OF PUBLICATION</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STUDENT</dc:creator>
  <cp:lastModifiedBy>LENOVO</cp:lastModifiedBy>
  <cp:revision>533</cp:revision>
  <dcterms:created xsi:type="dcterms:W3CDTF">2006-08-16T00:00:00Z</dcterms:created>
  <dcterms:modified xsi:type="dcterms:W3CDTF">2023-05-12T10:58:40Z</dcterms:modified>
</cp:coreProperties>
</file>